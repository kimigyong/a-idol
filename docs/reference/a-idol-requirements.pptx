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6B35C9"/>
          </a:solidFill>
          <a:ln w="12700">
            <a:solidFill>
              <a:srgbClr val="6B35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7F8FA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594360"/>
            <a:ext cx="8229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A-idol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아이돌 팬덤 플랫폼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2377440"/>
            <a:ext cx="3657600" cy="45720"/>
          </a:xfrm>
          <a:prstGeom prst="rect">
            <a:avLst/>
          </a:prstGeom>
          <a:solidFill>
            <a:srgbClr val="6B35C9"/>
          </a:solidFill>
          <a:ln w="12700">
            <a:solidFill>
              <a:srgbClr val="6B35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523744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분석서  v1.0.0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3108960"/>
            <a:ext cx="1810512" cy="329184"/>
          </a:xfrm>
          <a:prstGeom prst="roundRect">
            <a:avLst>
              <a:gd name="adj" fmla="val 19444"/>
            </a:avLst>
          </a:prstGeom>
          <a:solidFill>
            <a:srgbClr val="F7F8FA"/>
          </a:solidFill>
          <a:ln w="12700">
            <a:solidFill>
              <a:srgbClr val="6B35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108960"/>
            <a:ext cx="1810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88920" y="3108960"/>
            <a:ext cx="1810512" cy="329184"/>
          </a:xfrm>
          <a:prstGeom prst="roundRect">
            <a:avLst>
              <a:gd name="adj" fmla="val 19444"/>
            </a:avLst>
          </a:prstGeom>
          <a:solidFill>
            <a:srgbClr val="F7F8FA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88920" y="3108960"/>
            <a:ext cx="1810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3108960"/>
            <a:ext cx="1810512" cy="329184"/>
          </a:xfrm>
          <a:prstGeom prst="roundRect">
            <a:avLst>
              <a:gd name="adj" fmla="val 19444"/>
            </a:avLst>
          </a:prstGeom>
          <a:solidFill>
            <a:srgbClr val="F7F8FA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3108960"/>
            <a:ext cx="1810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20840" y="3108960"/>
            <a:ext cx="1810512" cy="329184"/>
          </a:xfrm>
          <a:prstGeom prst="roundRect">
            <a:avLst>
              <a:gd name="adj" fmla="val 19444"/>
            </a:avLst>
          </a:prstGeom>
          <a:solidFill>
            <a:srgbClr val="F7F8FA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3108960"/>
            <a:ext cx="1810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/ IAP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4617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2026.04.15  ·  Project Owner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6B35C9"/>
          </a:solidFill>
          <a:ln w="12700">
            <a:solidFill>
              <a:srgbClr val="6B35C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프로젝트 개요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4114800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  <a:effectLst>
            <a:outerShdw sx="100000" sy="100000" kx="0" ky="0" algn="bl" rotWithShape="0" blurRad="101600" dist="25400" dir="8100000">
              <a:srgbClr val="B0B8CC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49808"/>
            <a:ext cx="4114800" cy="50292"/>
          </a:xfrm>
          <a:prstGeom prst="rect">
            <a:avLst/>
          </a:prstGeom>
          <a:solidFill>
            <a:srgbClr val="6B35C9"/>
          </a:solidFill>
          <a:ln w="12700">
            <a:solidFill>
              <a:srgbClr val="6B35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7782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개요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225296"/>
            <a:ext cx="374904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A-idol은 AI 아이돌(AI-powered Idol)과 팬이 연결되는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모바일 전용 K-pop 팬덤 플랫폼입니다.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오디션에 참가한 AI 아이돌의 프로필 탐색부터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팬클럽 채팅, 오디션 투표, 포토카드 수집까지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하나의 앱에서 제공하는 올인원 팬 서비스.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0624" y="2980944"/>
            <a:ext cx="3895344" cy="18288"/>
          </a:xfrm>
          <a:prstGeom prst="rect">
            <a:avLst/>
          </a:prstGeom>
          <a:solidFill>
            <a:srgbClr val="EEEFF3"/>
          </a:solidFill>
          <a:ln w="12700">
            <a:solidFill>
              <a:srgbClr val="EEEF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07238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채널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3401568"/>
            <a:ext cx="45720" cy="256032"/>
          </a:xfrm>
          <a:prstGeom prst="rect">
            <a:avLst/>
          </a:prstGeom>
          <a:solidFill>
            <a:srgbClr val="6B35C9"/>
          </a:solidFill>
          <a:ln w="12700">
            <a:solidFill>
              <a:srgbClr val="6B35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34015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(React Native)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487168" y="34015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팬 유저 전용 — iOS + Android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" y="3822192"/>
            <a:ext cx="45720" cy="256032"/>
          </a:xfrm>
          <a:prstGeom prst="rect">
            <a:avLst/>
          </a:prstGeom>
          <a:solidFill>
            <a:srgbClr val="6B35C9"/>
          </a:solidFill>
          <a:ln w="12700">
            <a:solidFill>
              <a:srgbClr val="6B35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38221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Web (React)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487168" y="38221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관리자 전용 — 콘텐츠·오디션 관리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749808"/>
            <a:ext cx="4069080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  <a:effectLst>
            <a:outerShdw sx="100000" sy="100000" kx="0" ky="0" algn="bl" rotWithShape="0" blurRad="101600" dist="25400" dir="8100000">
              <a:srgbClr val="B0B8CC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749808"/>
            <a:ext cx="4069080" cy="50292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87782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수치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64608" y="1298448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  <a:effectLst>
            <a:outerShdw sx="100000" sy="100000" kx="0" ky="0" algn="bl" rotWithShape="0" blurRad="101600" dist="25400" dir="8100000">
              <a:srgbClr val="B0B8CC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64608" y="1298448"/>
            <a:ext cx="1920240" cy="50292"/>
          </a:xfrm>
          <a:prstGeom prst="rect">
            <a:avLst/>
          </a:prstGeom>
          <a:solidFill>
            <a:srgbClr val="6B35C9"/>
          </a:solidFill>
          <a:ln w="12700">
            <a:solidFill>
              <a:srgbClr val="6B35C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13716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4864608" y="189280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오디션 참가 아이돌 수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922008" y="1298448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  <a:effectLst>
            <a:outerShdw sx="100000" sy="100000" kx="0" ky="0" algn="bl" rotWithShape="0" blurRad="101600" dist="25400" dir="8100000">
              <a:srgbClr val="B0B8CC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922008" y="1298448"/>
            <a:ext cx="1920240" cy="50292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22008" y="13716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6922008" y="189280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오디션 예선 라운드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64608" y="237744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  <a:effectLst>
            <a:outerShdw sx="100000" sy="100000" kx="0" ky="0" algn="bl" rotWithShape="0" blurRad="101600" dist="25400" dir="8100000">
              <a:srgbClr val="B0B8CC">
                <a:alpha val="1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64608" y="2377440"/>
            <a:ext cx="1920240" cy="5029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64608" y="245059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4864608" y="297180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포토카드 세트 장수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922008" y="237744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  <a:effectLst>
            <a:outerShdw sx="100000" sy="100000" kx="0" ky="0" algn="bl" rotWithShape="0" blurRad="101600" dist="25400" dir="8100000">
              <a:srgbClr val="B0B8CC">
                <a:alpha val="14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922008" y="2377440"/>
            <a:ext cx="1920240" cy="50292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22008" y="245059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/일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6922008" y="297180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채팅 기본 쿼터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64608" y="3474720"/>
            <a:ext cx="3858768" cy="512064"/>
          </a:xfrm>
          <a:prstGeom prst="roundRect">
            <a:avLst>
              <a:gd name="adj" fmla="val 12500"/>
            </a:avLst>
          </a:prstGeom>
          <a:solidFill>
            <a:srgbClr val="F7F8FA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64608" y="3474720"/>
            <a:ext cx="38587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아이돌 : 1 팬클럽  ·  팬 1인 복수 팬클럽 가입 가능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7F8FA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A-idol Platform  ·  Requirements v1.0.0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시스템 아키텍처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94944"/>
            <a:ext cx="8631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Client Tier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877824"/>
            <a:ext cx="2743200" cy="804672"/>
          </a:xfrm>
          <a:prstGeom prst="roundRect">
            <a:avLst>
              <a:gd name="adj" fmla="val 9091"/>
            </a:avLst>
          </a:prstGeom>
          <a:solidFill>
            <a:srgbClr val="6B35C9"/>
          </a:solidFill>
          <a:ln w="12700">
            <a:solidFill>
              <a:srgbClr val="6B35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5097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App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11480" y="118872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E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+ Android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11480" y="1353312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팬 유저 전용 · Mobile Only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6080760" y="877824"/>
            <a:ext cx="2743200" cy="804672"/>
          </a:xfrm>
          <a:prstGeom prst="roundRect">
            <a:avLst>
              <a:gd name="adj" fmla="val 9091"/>
            </a:avLst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2200" y="95097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CMS Web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72200" y="118872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E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(Web)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172200" y="1353312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관리자·어드민 전용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200400" y="1115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팬 유저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691640" y="1682496"/>
            <a:ext cx="0" cy="27432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arrow"/>
          </a:ln>
        </p:spPr>
      </p:sp>
      <p:sp>
        <p:nvSpPr>
          <p:cNvPr id="15" name="Text 13"/>
          <p:cNvSpPr/>
          <p:nvPr/>
        </p:nvSpPr>
        <p:spPr>
          <a:xfrm>
            <a:off x="1746504" y="1682496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/ WS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7452360" y="1682496"/>
            <a:ext cx="0" cy="27432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arrow"/>
          </a:ln>
        </p:spPr>
      </p:sp>
      <p:sp>
        <p:nvSpPr>
          <p:cNvPr id="17" name="Text 15"/>
          <p:cNvSpPr/>
          <p:nvPr/>
        </p:nvSpPr>
        <p:spPr>
          <a:xfrm>
            <a:off x="7507224" y="1682496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20040" y="1938528"/>
            <a:ext cx="8631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API Gateway (Interface Layer)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463040" y="2103120"/>
            <a:ext cx="6217920" cy="384048"/>
          </a:xfrm>
          <a:prstGeom prst="roundRect">
            <a:avLst>
              <a:gd name="adj" fmla="val 19048"/>
            </a:avLst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54480" y="2176272"/>
            <a:ext cx="6035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Backend  —  REST Controllers  ·  WebSocket Gateways  ·  Guards  ·  Interceptors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0" y="2487168"/>
            <a:ext cx="0" cy="237744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arrow"/>
          </a:ln>
        </p:spPr>
      </p:sp>
      <p:sp>
        <p:nvSpPr>
          <p:cNvPr id="22" name="Text 20"/>
          <p:cNvSpPr/>
          <p:nvPr/>
        </p:nvSpPr>
        <p:spPr>
          <a:xfrm>
            <a:off x="320040" y="2706624"/>
            <a:ext cx="8631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Clean Architecture (NestJS 내부)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20040" y="2871216"/>
            <a:ext cx="2103120" cy="877824"/>
          </a:xfrm>
          <a:prstGeom prst="roundRect">
            <a:avLst>
              <a:gd name="adj" fmla="val 7292"/>
            </a:avLst>
          </a:prstGeom>
          <a:solidFill>
            <a:srgbClr val="F7F8FA"/>
          </a:solidFill>
          <a:ln w="12700">
            <a:solidFill>
              <a:srgbClr val="6B35C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2871216"/>
            <a:ext cx="54864" cy="877824"/>
          </a:xfrm>
          <a:prstGeom prst="rect">
            <a:avLst/>
          </a:prstGeom>
          <a:solidFill>
            <a:srgbClr val="6B35C9"/>
          </a:solidFill>
          <a:ln w="12700">
            <a:solidFill>
              <a:srgbClr val="6B35C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9768" y="2907792"/>
            <a:ext cx="19568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Layer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29768" y="3218688"/>
            <a:ext cx="1956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· Gateways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459736" y="2871216"/>
            <a:ext cx="2103120" cy="877824"/>
          </a:xfrm>
          <a:prstGeom prst="roundRect">
            <a:avLst>
              <a:gd name="adj" fmla="val 7292"/>
            </a:avLst>
          </a:prstGeom>
          <a:solidFill>
            <a:srgbClr val="F7F8FA"/>
          </a:solidFill>
          <a:ln w="12700">
            <a:solidFill>
              <a:srgbClr val="3B72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459736" y="2871216"/>
            <a:ext cx="54864" cy="877824"/>
          </a:xfrm>
          <a:prstGeom prst="rect">
            <a:avLst/>
          </a:prstGeom>
          <a:solidFill>
            <a:srgbClr val="3B72B8"/>
          </a:solidFill>
          <a:ln w="12700">
            <a:solidFill>
              <a:srgbClr val="3B72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9464" y="2907792"/>
            <a:ext cx="19568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569464" y="3218688"/>
            <a:ext cx="1956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· DTOs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599432" y="2871216"/>
            <a:ext cx="2103120" cy="877824"/>
          </a:xfrm>
          <a:prstGeom prst="roundRect">
            <a:avLst>
              <a:gd name="adj" fmla="val 7292"/>
            </a:avLst>
          </a:prstGeom>
          <a:solidFill>
            <a:srgbClr val="F7F8FA"/>
          </a:solidFill>
          <a:ln w="12700">
            <a:solidFill>
              <a:srgbClr val="5A68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99432" y="2871216"/>
            <a:ext cx="54864" cy="877824"/>
          </a:xfrm>
          <a:prstGeom prst="rect">
            <a:avLst/>
          </a:prstGeom>
          <a:solidFill>
            <a:srgbClr val="5A6880"/>
          </a:solidFill>
          <a:ln w="12700">
            <a:solidFill>
              <a:srgbClr val="5A68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2907792"/>
            <a:ext cx="19568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Layer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709160" y="3218688"/>
            <a:ext cx="1956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· Business Rules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739128" y="2871216"/>
            <a:ext cx="2103120" cy="877824"/>
          </a:xfrm>
          <a:prstGeom prst="roundRect">
            <a:avLst>
              <a:gd name="adj" fmla="val 7292"/>
            </a:avLst>
          </a:prstGeom>
          <a:solidFill>
            <a:srgbClr val="F7F8FA"/>
          </a:solidFill>
          <a:ln w="12700">
            <a:solidFill>
              <a:srgbClr val="70788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39128" y="2871216"/>
            <a:ext cx="54864" cy="877824"/>
          </a:xfrm>
          <a:prstGeom prst="rect">
            <a:avLst/>
          </a:prstGeom>
          <a:solidFill>
            <a:srgbClr val="707888"/>
          </a:solidFill>
          <a:ln w="12700">
            <a:solidFill>
              <a:srgbClr val="7078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48856" y="2907792"/>
            <a:ext cx="19568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Layer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848856" y="3218688"/>
            <a:ext cx="1956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· Redis · S3 · FCM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572000" y="3749040"/>
            <a:ext cx="0" cy="219456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arrow"/>
          </a:ln>
        </p:spPr>
      </p:sp>
      <p:sp>
        <p:nvSpPr>
          <p:cNvPr id="40" name="Text 38"/>
          <p:cNvSpPr/>
          <p:nvPr/>
        </p:nvSpPr>
        <p:spPr>
          <a:xfrm>
            <a:off x="320040" y="3950208"/>
            <a:ext cx="8631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Data Tier &amp; External Services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20040" y="4114800"/>
            <a:ext cx="1371600" cy="585216"/>
          </a:xfrm>
          <a:prstGeom prst="roundRect">
            <a:avLst>
              <a:gd name="adj" fmla="val 10938"/>
            </a:avLst>
          </a:prstGeom>
          <a:solidFill>
            <a:srgbClr val="F7F8FA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74904" y="4114800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74904" y="4425696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DB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1783080" y="4114800"/>
            <a:ext cx="1371600" cy="585216"/>
          </a:xfrm>
          <a:prstGeom prst="roundRect">
            <a:avLst>
              <a:gd name="adj" fmla="val 10938"/>
            </a:avLst>
          </a:prstGeom>
          <a:solidFill>
            <a:srgbClr val="F7F8FA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837944" y="4114800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1837944" y="4425696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/ Quota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3246120" y="4114800"/>
            <a:ext cx="1371600" cy="585216"/>
          </a:xfrm>
          <a:prstGeom prst="roundRect">
            <a:avLst>
              <a:gd name="adj" fmla="val 10938"/>
            </a:avLst>
          </a:prstGeom>
          <a:solidFill>
            <a:srgbClr val="F7F8FA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300984" y="4114800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3300984" y="4425696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4709160" y="4114800"/>
            <a:ext cx="1371600" cy="585216"/>
          </a:xfrm>
          <a:prstGeom prst="roundRect">
            <a:avLst>
              <a:gd name="adj" fmla="val 10938"/>
            </a:avLst>
          </a:prstGeom>
          <a:solidFill>
            <a:srgbClr val="F7F8FA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64024" y="4114800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FCM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764024" y="4425696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6172200" y="4114800"/>
            <a:ext cx="1371600" cy="585216"/>
          </a:xfrm>
          <a:prstGeom prst="roundRect">
            <a:avLst>
              <a:gd name="adj" fmla="val 10938"/>
            </a:avLst>
          </a:prstGeom>
          <a:solidFill>
            <a:srgbClr val="F7F8FA"/>
          </a:solidFill>
          <a:ln w="12700">
            <a:solidFill>
              <a:srgbClr val="6B35C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27064" y="4114800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IAP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227064" y="4425696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Store/Play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7635240" y="4114800"/>
            <a:ext cx="1371600" cy="585216"/>
          </a:xfrm>
          <a:prstGeom prst="roundRect">
            <a:avLst>
              <a:gd name="adj" fmla="val 10938"/>
            </a:avLst>
          </a:prstGeom>
          <a:solidFill>
            <a:srgbClr val="F7F8FA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690104" y="4114800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7690104" y="4425696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정산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7F8FA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A-idol Platform  ·  Requirements v1.0.0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기술 스택 &amp; 클린 아키텍처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4114800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  <a:effectLst>
            <a:outerShdw sx="100000" sy="100000" kx="0" ky="0" algn="bl" rotWithShape="0" blurRad="101600" dist="25400" dir="8100000">
              <a:srgbClr val="B0B8CC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49808"/>
            <a:ext cx="4114800" cy="50292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7782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스택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207008"/>
            <a:ext cx="4005072" cy="2770632"/>
          </a:xfrm>
          <a:prstGeom prst="roundRect">
            <a:avLst>
              <a:gd name="adj" fmla="val 3300"/>
            </a:avLst>
          </a:prstGeom>
          <a:solidFill>
            <a:srgbClr val="DFE1E8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2336" y="1243584"/>
            <a:ext cx="1005840" cy="269748"/>
          </a:xfrm>
          <a:prstGeom prst="rect">
            <a:avLst/>
          </a:prstGeom>
          <a:solidFill>
            <a:srgbClr val="1A5FA8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243584"/>
            <a:ext cx="9144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레이어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408176" y="1243584"/>
            <a:ext cx="1097280" cy="269748"/>
          </a:xfrm>
          <a:prstGeom prst="rect">
            <a:avLst/>
          </a:prstGeom>
          <a:solidFill>
            <a:srgbClr val="1A5FA8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81328" y="1243584"/>
            <a:ext cx="100584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05456" y="1243584"/>
            <a:ext cx="1828800" cy="269748"/>
          </a:xfrm>
          <a:prstGeom prst="rect">
            <a:avLst/>
          </a:prstGeom>
          <a:solidFill>
            <a:srgbClr val="1A5FA8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78608" y="1243584"/>
            <a:ext cx="1737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비고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02336" y="1513332"/>
            <a:ext cx="1005840" cy="269748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1513332"/>
            <a:ext cx="9144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408176" y="1513332"/>
            <a:ext cx="1097280" cy="269748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81328" y="1513332"/>
            <a:ext cx="100584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05456" y="1513332"/>
            <a:ext cx="1828800" cy="269748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78608" y="1513332"/>
            <a:ext cx="1737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15+ / Android 11+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02336" y="1783080"/>
            <a:ext cx="1005840" cy="269748"/>
          </a:xfrm>
          <a:prstGeom prst="rect">
            <a:avLst/>
          </a:prstGeom>
          <a:solidFill>
            <a:srgbClr val="F0F5FB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1783080"/>
            <a:ext cx="9144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Web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408176" y="1783080"/>
            <a:ext cx="1097280" cy="269748"/>
          </a:xfrm>
          <a:prstGeom prst="rect">
            <a:avLst/>
          </a:prstGeom>
          <a:solidFill>
            <a:srgbClr val="F0F5FB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81328" y="1783080"/>
            <a:ext cx="100584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05456" y="1783080"/>
            <a:ext cx="1828800" cy="269748"/>
          </a:xfrm>
          <a:prstGeom prst="rect">
            <a:avLst/>
          </a:prstGeom>
          <a:solidFill>
            <a:srgbClr val="F0F5FB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78608" y="1783080"/>
            <a:ext cx="1737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관리자 어드민 전용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02336" y="2052828"/>
            <a:ext cx="1005840" cy="269748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" y="2052828"/>
            <a:ext cx="9144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408176" y="2052828"/>
            <a:ext cx="1097280" cy="269748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481328" y="2052828"/>
            <a:ext cx="100584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505456" y="2052828"/>
            <a:ext cx="1828800" cy="269748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78608" y="2052828"/>
            <a:ext cx="1737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WebSocket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02336" y="2322576"/>
            <a:ext cx="1005840" cy="269748"/>
          </a:xfrm>
          <a:prstGeom prst="rect">
            <a:avLst/>
          </a:prstGeom>
          <a:solidFill>
            <a:srgbClr val="F0F5FB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" y="2322576"/>
            <a:ext cx="9144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408176" y="2322576"/>
            <a:ext cx="1097280" cy="269748"/>
          </a:xfrm>
          <a:prstGeom prst="rect">
            <a:avLst/>
          </a:prstGeom>
          <a:solidFill>
            <a:srgbClr val="F0F5FB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81328" y="2322576"/>
            <a:ext cx="100584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505456" y="2322576"/>
            <a:ext cx="1828800" cy="269748"/>
          </a:xfrm>
          <a:prstGeom prst="rect">
            <a:avLst/>
          </a:prstGeom>
          <a:solidFill>
            <a:srgbClr val="F0F5FB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78608" y="2322576"/>
            <a:ext cx="1737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RDBMS — 20 tables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02336" y="2592324"/>
            <a:ext cx="1005840" cy="269748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" y="2592324"/>
            <a:ext cx="9144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408176" y="2592324"/>
            <a:ext cx="1097280" cy="269748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481328" y="2592324"/>
            <a:ext cx="100584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505456" y="2592324"/>
            <a:ext cx="1828800" cy="269748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78608" y="2592324"/>
            <a:ext cx="1737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 · Vote rank · Session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02336" y="2862072"/>
            <a:ext cx="1005840" cy="269748"/>
          </a:xfrm>
          <a:prstGeom prst="rect">
            <a:avLst/>
          </a:prstGeom>
          <a:solidFill>
            <a:srgbClr val="F0F5FB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" y="2862072"/>
            <a:ext cx="9144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408176" y="2862072"/>
            <a:ext cx="1097280" cy="269748"/>
          </a:xfrm>
          <a:prstGeom prst="rect">
            <a:avLst/>
          </a:prstGeom>
          <a:solidFill>
            <a:srgbClr val="F0F5FB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481328" y="2862072"/>
            <a:ext cx="100584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505456" y="2862072"/>
            <a:ext cx="1828800" cy="269748"/>
          </a:xfrm>
          <a:prstGeom prst="rect">
            <a:avLst/>
          </a:prstGeom>
          <a:solidFill>
            <a:srgbClr val="F0F5FB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578608" y="2862072"/>
            <a:ext cx="1737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Photocard · Idol images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02336" y="3131820"/>
            <a:ext cx="1005840" cy="269748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5488" y="3131820"/>
            <a:ext cx="9144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408176" y="3131820"/>
            <a:ext cx="1097280" cy="269748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481328" y="3131820"/>
            <a:ext cx="100584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FCM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505456" y="3131820"/>
            <a:ext cx="1828800" cy="269748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578608" y="3131820"/>
            <a:ext cx="1737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+ Android 알림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02336" y="3401568"/>
            <a:ext cx="1005840" cy="269748"/>
          </a:xfrm>
          <a:prstGeom prst="rect">
            <a:avLst/>
          </a:prstGeom>
          <a:solidFill>
            <a:srgbClr val="F0F5FB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5488" y="3401568"/>
            <a:ext cx="9144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1408176" y="3401568"/>
            <a:ext cx="1097280" cy="269748"/>
          </a:xfrm>
          <a:prstGeom prst="rect">
            <a:avLst/>
          </a:prstGeom>
          <a:solidFill>
            <a:srgbClr val="F0F5FB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481328" y="3401568"/>
            <a:ext cx="100584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IAP + Stripe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2505456" y="3401568"/>
            <a:ext cx="1828800" cy="269748"/>
          </a:xfrm>
          <a:prstGeom prst="rect">
            <a:avLst/>
          </a:prstGeom>
          <a:solidFill>
            <a:srgbClr val="F0F5FB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578608" y="3401568"/>
            <a:ext cx="1737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Store/Play + SG법인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02336" y="3671316"/>
            <a:ext cx="1005840" cy="269748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5488" y="3671316"/>
            <a:ext cx="9144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아키텍처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1408176" y="3671316"/>
            <a:ext cx="1097280" cy="269748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481328" y="3671316"/>
            <a:ext cx="100584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Arch.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2505456" y="3671316"/>
            <a:ext cx="1828800" cy="269748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578608" y="3671316"/>
            <a:ext cx="1737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Layer Clean Architecture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754880" y="749808"/>
            <a:ext cx="4069080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  <a:effectLst>
            <a:outerShdw sx="100000" sy="100000" kx="0" ky="0" algn="bl" rotWithShape="0" blurRad="101600" dist="25400" dir="8100000">
              <a:srgbClr val="B0B8CC">
                <a:alpha val="14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4754880" y="749808"/>
            <a:ext cx="4069080" cy="50292"/>
          </a:xfrm>
          <a:prstGeom prst="rect">
            <a:avLst/>
          </a:prstGeom>
          <a:solidFill>
            <a:srgbClr val="6B35C9"/>
          </a:solidFill>
          <a:ln w="12700">
            <a:solidFill>
              <a:srgbClr val="6B35C9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937760" y="87782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 레이어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4919472" y="1316736"/>
            <a:ext cx="3785616" cy="64008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 w="12700">
            <a:solidFill>
              <a:srgbClr val="6B35C9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919472" y="1316736"/>
            <a:ext cx="64008" cy="640080"/>
          </a:xfrm>
          <a:prstGeom prst="rect">
            <a:avLst/>
          </a:prstGeom>
          <a:solidFill>
            <a:srgbClr val="6B35C9"/>
          </a:solidFill>
          <a:ln w="12700">
            <a:solidFill>
              <a:srgbClr val="6B35C9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065776" y="137160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Layer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5065776" y="16276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Controllers · WS Gateways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Screens · CMS Pages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6784848" y="1956816"/>
            <a:ext cx="0" cy="100584"/>
          </a:xfrm>
          <a:prstGeom prst="line">
            <a:avLst/>
          </a:prstGeom>
          <a:noFill/>
          <a:ln w="12700">
            <a:solidFill>
              <a:srgbClr val="DFE1E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919472" y="2048256"/>
            <a:ext cx="3785616" cy="64008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919472" y="2048256"/>
            <a:ext cx="64008" cy="640080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065776" y="210312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5065776" y="23591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Cases: Vote · Chat · Photocard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FanClub · Auth · Idol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6784848" y="2688336"/>
            <a:ext cx="0" cy="100584"/>
          </a:xfrm>
          <a:prstGeom prst="line">
            <a:avLst/>
          </a:prstGeom>
          <a:noFill/>
          <a:ln w="12700">
            <a:solidFill>
              <a:srgbClr val="DFE1E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919472" y="2779776"/>
            <a:ext cx="3785616" cy="64008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919472" y="2779776"/>
            <a:ext cx="64008" cy="64008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065776" y="283464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Layer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5065776" y="30906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· Business Rules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Interfaces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6784848" y="3419856"/>
            <a:ext cx="0" cy="100584"/>
          </a:xfrm>
          <a:prstGeom prst="line">
            <a:avLst/>
          </a:prstGeom>
          <a:noFill/>
          <a:ln w="12700">
            <a:solidFill>
              <a:srgbClr val="DFE1E8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919472" y="3511296"/>
            <a:ext cx="3785616" cy="64008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 w="12700">
            <a:solidFill>
              <a:srgbClr val="5A688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919472" y="3511296"/>
            <a:ext cx="64008" cy="640080"/>
          </a:xfrm>
          <a:prstGeom prst="rect">
            <a:avLst/>
          </a:prstGeom>
          <a:solidFill>
            <a:srgbClr val="5A6880"/>
          </a:solidFill>
          <a:ln w="12700">
            <a:solidFill>
              <a:srgbClr val="5A688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065776" y="356616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Layer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5065776" y="382219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Redis · S3 · FCM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 · WebSocket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7F8FA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A-idol Platform  ·  Requirements v1.0.0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6B35C9"/>
          </a:solidFill>
          <a:ln w="12700">
            <a:solidFill>
              <a:srgbClr val="6B35C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이해관계자 &amp; 역할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4261104" cy="1883664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  <a:effectLst>
            <a:outerShdw sx="100000" sy="100000" kx="0" ky="0" algn="bl" rotWithShape="0" blurRad="101600" dist="25400" dir="8100000">
              <a:srgbClr val="B0B8CC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749808"/>
            <a:ext cx="4261104" cy="50292"/>
          </a:xfrm>
          <a:prstGeom prst="rect">
            <a:avLst/>
          </a:prstGeom>
          <a:solidFill>
            <a:srgbClr val="6B35C9"/>
          </a:solidFill>
          <a:ln w="12700">
            <a:solidFill>
              <a:srgbClr val="6B35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841248"/>
            <a:ext cx="4059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팬 유저 (Fan User)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93192" y="1170432"/>
            <a:ext cx="4005072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소셜/이메일 로그인 (카카오·Apple·Google)</a:t>
            </a:r>
            <a:endParaRPr lang="en-US" sz="9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오디션 참가 AI 아이돌 프로필 탐색·좋아요·팔로우</a:t>
            </a:r>
            <a:endParaRPr lang="en-US" sz="9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팬클럽 가입 → AI 아이돌과 채팅</a:t>
            </a:r>
            <a:endParaRPr lang="en-US" sz="9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투표권 구매 → 오디션 투표</a:t>
            </a:r>
            <a:endParaRPr lang="en-US" sz="9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포토카드 구매(가챠) &amp; 컬렉션 관리</a:t>
            </a:r>
            <a:endParaRPr lang="en-US" sz="9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모바일 온리 — 웹 접근 불가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00016" y="749808"/>
            <a:ext cx="4261104" cy="1883664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  <a:effectLst>
            <a:outerShdw sx="100000" sy="100000" kx="0" ky="0" algn="bl" rotWithShape="0" blurRad="101600" dist="25400" dir="8100000">
              <a:srgbClr val="B0B8CC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0016" y="749808"/>
            <a:ext cx="4261104" cy="50292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37176" y="841248"/>
            <a:ext cx="4059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관리자 (Platform Admin)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37176" y="1170432"/>
            <a:ext cx="4005072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아이돌 프로필 등록·수정</a:t>
            </a:r>
            <a:endParaRPr lang="en-US" sz="9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소속사(Agency) 등록 및 관리</a:t>
            </a:r>
            <a:endParaRPr lang="en-US" sz="9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오디션 프로그램·라운드 생성 및 운영</a:t>
            </a:r>
            <a:endParaRPr lang="en-US" sz="9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투표 타입·가중치 설정</a:t>
            </a:r>
            <a:endParaRPr lang="en-US" sz="9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포토카드 세트 등록</a:t>
            </a:r>
            <a:endParaRPr lang="en-US" sz="9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통계 확인 및 CSV 내보내기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6032" y="2724912"/>
            <a:ext cx="4261104" cy="1883664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  <a:effectLst>
            <a:outerShdw sx="100000" sy="100000" kx="0" ky="0" algn="bl" rotWithShape="0" blurRad="101600" dist="25400" dir="8100000">
              <a:srgbClr val="B0B8CC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" y="2724912"/>
            <a:ext cx="4261104" cy="5029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" y="2816352"/>
            <a:ext cx="4059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소속사 매니저 (Agency Manager)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3192" y="3145536"/>
            <a:ext cx="4005072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서브어드민 계정</a:t>
            </a:r>
            <a:endParaRPr lang="en-US" sz="9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플랫폼 운영자가 대행</a:t>
            </a:r>
            <a:endParaRPr lang="en-US" sz="9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자사 AI 아이돌 프로필·스케쥴 수정</a:t>
            </a:r>
            <a:endParaRPr lang="en-US" sz="9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포토카드 세트 이미지 업로드</a:t>
            </a:r>
            <a:endParaRPr lang="en-US" sz="9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2에서 전용 포털 제공 예정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00016" y="2724912"/>
            <a:ext cx="4261104" cy="1883664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  <a:effectLst>
            <a:outerShdw sx="100000" sy="100000" kx="0" ky="0" algn="bl" rotWithShape="0" blurRad="101600" dist="25400" dir="8100000">
              <a:srgbClr val="B0B8CC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0016" y="2724912"/>
            <a:ext cx="4261104" cy="50292"/>
          </a:xfrm>
          <a:prstGeom prst="rect">
            <a:avLst/>
          </a:prstGeom>
          <a:solidFill>
            <a:srgbClr val="5A6880"/>
          </a:solidFill>
          <a:ln w="12700">
            <a:solidFill>
              <a:srgbClr val="5A68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37176" y="2816352"/>
            <a:ext cx="4059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자동화 (System)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37176" y="3145536"/>
            <a:ext cx="4005072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매일 00:00 KST 채팅 쿼터 리셋 (Redis)</a:t>
            </a:r>
            <a:endParaRPr lang="en-US" sz="9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08:00 / 15:00 / 22:00 AI 아이돌 자동 메시지</a:t>
            </a:r>
            <a:endParaRPr lang="en-US" sz="9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오디션 라운드 종료 감지 (5분 Cron)</a:t>
            </a:r>
            <a:endParaRPr lang="en-US" sz="9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가중치 점수 자동 계산 후 관리자 확정</a:t>
            </a:r>
            <a:endParaRPr lang="en-US" sz="9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FCM 푸시 알림 (팔로우·투표·결과)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7F8FA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A-idol Platform  ·  Requirements v1.0.0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6B35C9"/>
          </a:solidFill>
          <a:ln w="12700">
            <a:solidFill>
              <a:srgbClr val="6B35C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팬 유저 핵심 기능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2798064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  <a:effectLst>
            <a:outerShdw sx="100000" sy="100000" kx="0" ky="0" algn="bl" rotWithShape="0" blurRad="101600" dist="25400" dir="8100000">
              <a:srgbClr val="B0B8CC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749808"/>
            <a:ext cx="2798064" cy="50292"/>
          </a:xfrm>
          <a:prstGeom prst="rect">
            <a:avLst/>
          </a:prstGeom>
          <a:solidFill>
            <a:srgbClr val="6B35C9"/>
          </a:solidFill>
          <a:ln w="12700">
            <a:solidFill>
              <a:srgbClr val="6B35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841248"/>
            <a:ext cx="2596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인증 &amp; 온보딩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93192" y="1170432"/>
            <a:ext cx="2542032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소셜 로그인: 카카오 / Apple / Google</a:t>
            </a:r>
            <a:endParaRPr lang="en-US" sz="9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이메일 회원가입 (이메일 인증)</a:t>
            </a:r>
            <a:endParaRPr lang="en-US" sz="9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프로필 설정: 닉네임(2~20자) + 이미지</a:t>
            </a:r>
            <a:endParaRPr lang="en-US" sz="9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Access Token (1h) + Refresh Token (30d)</a:t>
            </a:r>
            <a:endParaRPr lang="en-US" sz="9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계정 삭제 — PIPA 준수 (30일 내 PII 파기)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145536" y="749808"/>
            <a:ext cx="2798064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  <a:effectLst>
            <a:outerShdw sx="100000" sy="100000" kx="0" ky="0" algn="bl" rotWithShape="0" blurRad="101600" dist="25400" dir="8100000">
              <a:srgbClr val="B0B8CC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45536" y="749808"/>
            <a:ext cx="2798064" cy="50292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82696" y="841248"/>
            <a:ext cx="2596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아이돌 탐색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82696" y="1170432"/>
            <a:ext cx="2542032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오디션 참가 AI 아이돌 2열 그리드 (무한 스크롤)</a:t>
            </a:r>
            <a:endParaRPr lang="en-US" sz="9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이름·소속사 검색 및 필터링</a:t>
            </a:r>
            <a:endParaRPr lang="en-US" sz="9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좋아요 토글 (낙관적 업데이트)</a:t>
            </a:r>
            <a:endParaRPr lang="en-US" sz="9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팔로우 → FCM 토픽 구독 (소식 수신)</a:t>
            </a:r>
            <a:endParaRPr lang="en-US" sz="9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상세: 프로필·스케쥴·포토갤러리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35040" y="749808"/>
            <a:ext cx="2798064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  <a:effectLst>
            <a:outerShdw sx="100000" sy="100000" kx="0" ky="0" algn="bl" rotWithShape="0" blurRad="101600" dist="25400" dir="8100000">
              <a:srgbClr val="B0B8CC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749808"/>
            <a:ext cx="2798064" cy="5029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841248"/>
            <a:ext cx="2596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팬클럽 &amp; AI 채팅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72200" y="1170432"/>
            <a:ext cx="2542032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아이돌 1인당 공식 팬클럽 1개 (자동 생성)</a:t>
            </a:r>
            <a:endParaRPr lang="en-US" sz="9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복수 팬클럽 동시 가입 가능</a:t>
            </a:r>
            <a:endParaRPr lang="en-US" sz="9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팬클럽 가입 → 채팅 접근 권한 부여</a:t>
            </a:r>
            <a:endParaRPr lang="en-US" sz="9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일일 기본 5회 대화 쿼터 (KST 자정 리셋)</a:t>
            </a:r>
            <a:endParaRPr lang="en-US" sz="9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메시지 3회/일 — 쿼터 미차감</a:t>
            </a:r>
            <a:endParaRPr lang="en-US" sz="9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쿼터 소진 시 채팅 쿠폰으로 대체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56032" y="2779776"/>
            <a:ext cx="2798064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  <a:effectLst>
            <a:outerShdw sx="100000" sy="100000" kx="0" ky="0" algn="bl" rotWithShape="0" blurRad="101600" dist="25400" dir="8100000">
              <a:srgbClr val="B0B8CC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" y="2779776"/>
            <a:ext cx="2798064" cy="50292"/>
          </a:xfrm>
          <a:prstGeom prst="rect">
            <a:avLst/>
          </a:prstGeom>
          <a:solidFill>
            <a:srgbClr val="6B35C9"/>
          </a:solidFill>
          <a:ln w="12700">
            <a:solidFill>
              <a:srgbClr val="6B35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" y="2871216"/>
            <a:ext cx="2596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오디션 &amp; 투표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93192" y="3200400"/>
            <a:ext cx="2542032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예선 1~10차 + 결선 오디션 구조</a:t>
            </a:r>
            <a:endParaRPr lang="en-US" sz="9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투표권 구매 (IAP — App Store / Play)</a:t>
            </a:r>
            <a:endParaRPr lang="en-US" sz="9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라운드별 복수 투표권 구매 가능</a:t>
            </a:r>
            <a:endParaRPr lang="en-US" sz="9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온라인·SMS·인기도 가중치 적용 투표</a:t>
            </a:r>
            <a:endParaRPr lang="en-US" sz="9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순위 확인 (Redis ZSET)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145536" y="2779776"/>
            <a:ext cx="2798064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  <a:effectLst>
            <a:outerShdw sx="100000" sy="100000" kx="0" ky="0" algn="bl" rotWithShape="0" blurRad="101600" dist="25400" dir="8100000">
              <a:srgbClr val="B0B8CC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45536" y="2779776"/>
            <a:ext cx="2798064" cy="50292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82696" y="2871216"/>
            <a:ext cx="2596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포토카드 (가챠)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82696" y="3200400"/>
            <a:ext cx="2542032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아이돌별 12장 세트 구성</a:t>
            </a:r>
            <a:endParaRPr lang="en-US" sz="9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랜덤 1장 지급 (서버 사이드 CSPRNG)</a:t>
            </a:r>
            <a:endParaRPr lang="en-US" sz="9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카드 선택 불가 — 중복 보유 가능</a:t>
            </a:r>
            <a:endParaRPr lang="en-US" sz="9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일반·레어·에픽 3등급 구성</a:t>
            </a:r>
            <a:endParaRPr lang="en-US" sz="9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컬렉션 — 미보유 카드 실루엣 표시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035040" y="2779776"/>
            <a:ext cx="2798064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  <a:effectLst>
            <a:outerShdw sx="100000" sy="100000" kx="0" ky="0" algn="bl" rotWithShape="0" blurRad="101600" dist="25400" dir="8100000">
              <a:srgbClr val="B0B8CC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0" y="2779776"/>
            <a:ext cx="2798064" cy="5029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2871216"/>
            <a:ext cx="2596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마이페이지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72200" y="3200400"/>
            <a:ext cx="2542032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좋아요·팔로우 AI 아이돌 목록</a:t>
            </a:r>
            <a:endParaRPr lang="en-US" sz="9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가입한 팬클럽 바로가기</a:t>
            </a:r>
            <a:endParaRPr lang="en-US" sz="9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채팅 쿠폰 잔액 및 구매</a:t>
            </a:r>
            <a:endParaRPr lang="en-US" sz="9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투표 내역 / 구매 내역 확인</a:t>
            </a:r>
            <a:endParaRPr lang="en-US" sz="9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계정 설정 · 알림 설정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7F8FA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A-idol Platform  ·  Requirements v1.0.0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관리자 CMS 핵심 기능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2798064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  <a:effectLst>
            <a:outerShdw sx="100000" sy="100000" kx="0" ky="0" algn="bl" rotWithShape="0" blurRad="101600" dist="25400" dir="8100000">
              <a:srgbClr val="B0B8CC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749808"/>
            <a:ext cx="2798064" cy="50292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841248"/>
            <a:ext cx="2596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아이돌 관리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93192" y="1170432"/>
            <a:ext cx="2542032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소속사(Agency) 등록 및 관리</a:t>
            </a:r>
            <a:endParaRPr lang="en-US" sz="9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아이돌 프로필 등록 (오디션 참가 인원)</a:t>
            </a:r>
            <a:endParaRPr lang="en-US" sz="9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이름·소속사·생일·컨셉·바이오·사진</a:t>
            </a:r>
            <a:endParaRPr lang="en-US" sz="9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채팅 페르소나 (성격·말투·취미·캐치프레이즈)</a:t>
            </a:r>
            <a:endParaRPr lang="en-US" sz="9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스케쥴 등록 (방송/콘서트/팬미팅)</a:t>
            </a:r>
            <a:endParaRPr lang="en-US" sz="9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활성/비활성 상태 관리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145536" y="749808"/>
            <a:ext cx="2798064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  <a:effectLst>
            <a:outerShdw sx="100000" sy="100000" kx="0" ky="0" algn="bl" rotWithShape="0" blurRad="101600" dist="25400" dir="8100000">
              <a:srgbClr val="B0B8CC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45536" y="749808"/>
            <a:ext cx="2798064" cy="50292"/>
          </a:xfrm>
          <a:prstGeom prst="rect">
            <a:avLst/>
          </a:prstGeom>
          <a:solidFill>
            <a:srgbClr val="6B35C9"/>
          </a:solidFill>
          <a:ln w="12700">
            <a:solidFill>
              <a:srgbClr val="6B35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82696" y="841248"/>
            <a:ext cx="2596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오디션 운영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82696" y="1170432"/>
            <a:ext cx="2542032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오디션 프로그램 생성 (이름·설명·시작일)</a:t>
            </a:r>
            <a:endParaRPr lang="en-US" sz="9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예선 1~10차 라운드 + 결선 자동 생성</a:t>
            </a:r>
            <a:endParaRPr lang="en-US" sz="9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라운드별 투표 기간 설정 및 활성화</a:t>
            </a:r>
            <a:endParaRPr lang="en-US" sz="9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결선 진출 기준 인원 설정</a:t>
            </a:r>
            <a:endParaRPr lang="en-US" sz="9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라운드 마감 → 가중치 점수 자동 계산</a:t>
            </a:r>
            <a:endParaRPr lang="en-US" sz="9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확정 후 FCM 전체 알림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35040" y="749808"/>
            <a:ext cx="2798064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  <a:effectLst>
            <a:outerShdw sx="100000" sy="100000" kx="0" ky="0" algn="bl" rotWithShape="0" blurRad="101600" dist="25400" dir="8100000">
              <a:srgbClr val="B0B8CC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749808"/>
            <a:ext cx="2798064" cy="5029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841248"/>
            <a:ext cx="2596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투표 설정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72200" y="1170432"/>
            <a:ext cx="2542032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투표 타입 등록 (온라인 / SMS / 인기도)</a:t>
            </a:r>
            <a:endParaRPr lang="en-US" sz="9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타입별 가중치 설정 (합계 = 1.0 강제 검증)</a:t>
            </a:r>
            <a:endParaRPr lang="en-US" sz="9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라운드별 투표권 구매 한도 설정</a:t>
            </a:r>
            <a:endParaRPr lang="en-US" sz="9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투표권 상품(SKU) 및 가격 관리</a:t>
            </a:r>
            <a:endParaRPr lang="en-US" sz="9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투표 대시보드 (자동 갱신 30초)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56032" y="2779776"/>
            <a:ext cx="2798064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  <a:effectLst>
            <a:outerShdw sx="100000" sy="100000" kx="0" ky="0" algn="bl" rotWithShape="0" blurRad="101600" dist="25400" dir="8100000">
              <a:srgbClr val="B0B8CC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" y="2779776"/>
            <a:ext cx="2798064" cy="50292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" y="2871216"/>
            <a:ext cx="2596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포토카드 관리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93192" y="3200400"/>
            <a:ext cx="2542032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포토카드 세트 생성 (정확히 12장)</a:t>
            </a:r>
            <a:endParaRPr lang="en-US" sz="9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카드: 이름·이미지·등급(일반/레어/에픽)</a:t>
            </a:r>
            <a:endParaRPr lang="en-US" sz="9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카드 단가(KRW) 및 IAP SKU 매핑</a:t>
            </a:r>
            <a:endParaRPr lang="en-US" sz="9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세트 활성화/비활성화</a:t>
            </a:r>
            <a:endParaRPr lang="en-US" sz="9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이미지 업로드 관리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145536" y="2779776"/>
            <a:ext cx="2798064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  <a:effectLst>
            <a:outerShdw sx="100000" sy="100000" kx="0" ky="0" algn="bl" rotWithShape="0" blurRad="101600" dist="25400" dir="8100000">
              <a:srgbClr val="B0B8CC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45536" y="2779776"/>
            <a:ext cx="2798064" cy="50292"/>
          </a:xfrm>
          <a:prstGeom prst="rect">
            <a:avLst/>
          </a:prstGeom>
          <a:solidFill>
            <a:srgbClr val="6B35C9"/>
          </a:solidFill>
          <a:ln w="12700">
            <a:solidFill>
              <a:srgbClr val="6B35C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82696" y="2871216"/>
            <a:ext cx="2596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채팅 설정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82696" y="3200400"/>
            <a:ext cx="2542032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아이돌별 일일 채팅 쿼터 설정 (기본:5)</a:t>
            </a:r>
            <a:endParaRPr lang="en-US" sz="9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메시지 템플릿 (아침/오후/밤) 설정</a:t>
            </a:r>
            <a:endParaRPr lang="en-US" sz="9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채팅 쿠폰 상품 목록 및 가격 관리</a:t>
            </a:r>
            <a:endParaRPr lang="en-US" sz="9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Rule-based AI 응답 템플릿</a:t>
            </a:r>
            <a:endParaRPr lang="en-US" sz="9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Claude API 연동 (LLM 페르소나)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035040" y="2779776"/>
            <a:ext cx="2798064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  <a:effectLst>
            <a:outerShdw sx="100000" sy="100000" kx="0" ky="0" algn="bl" rotWithShape="0" blurRad="101600" dist="25400" dir="8100000">
              <a:srgbClr val="B0B8CC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0" y="2779776"/>
            <a:ext cx="2798064" cy="5029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2871216"/>
            <a:ext cx="2596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통계 &amp; 리포트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72200" y="3200400"/>
            <a:ext cx="2542032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오디션별·라운드별 투표 집계</a:t>
            </a:r>
            <a:endParaRPr lang="en-US" sz="9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투표 타입별 + 가중치 적용 최종 순위</a:t>
            </a:r>
            <a:endParaRPr lang="en-US" sz="9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DAU/MAU · 신규 가입 · 리텐션 (D7)</a:t>
            </a:r>
            <a:endParaRPr lang="en-US" sz="9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포토카드 매출 (스토어 수수료 제외)</a:t>
            </a:r>
            <a:endParaRPr lang="en-US" sz="90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내보내기 (최대 1년 범위)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7F8FA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A-idol Platform  ·  Requirements v1.0.0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핵심 비즈니스 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37744" y="749808"/>
            <a:ext cx="2048256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6B35C9"/>
            </a:solidFill>
            <a:prstDash val="solid"/>
          </a:ln>
          <a:effectLst>
            <a:outerShdw sx="100000" sy="100000" kx="0" ky="0" algn="bl" rotWithShape="0" blurRad="101600" dist="25400" dir="8100000">
              <a:srgbClr val="B0B8CC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37744" y="749808"/>
            <a:ext cx="2048256" cy="50292"/>
          </a:xfrm>
          <a:prstGeom prst="rect">
            <a:avLst/>
          </a:prstGeom>
          <a:solidFill>
            <a:srgbClr val="6B35C9"/>
          </a:solidFill>
          <a:ln w="12700">
            <a:solidFill>
              <a:srgbClr val="6B35C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7744" y="749808"/>
            <a:ext cx="50292" cy="1691640"/>
          </a:xfrm>
          <a:prstGeom prst="rect">
            <a:avLst/>
          </a:prstGeom>
          <a:solidFill>
            <a:srgbClr val="6B35C9"/>
          </a:solidFill>
          <a:ln w="12700">
            <a:solidFill>
              <a:srgbClr val="6B35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84124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BR-001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9184" y="10424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오디션 참가 아이돌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9184" y="1353312"/>
            <a:ext cx="1847088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오디션에 참가하는 AI 아이돌 수는 99명으로 운영. DB 트리거로 강제 적용 (INSERT 시 COUNT 검사).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14016" y="749808"/>
            <a:ext cx="2048256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1A5FA8"/>
            </a:solidFill>
            <a:prstDash val="solid"/>
          </a:ln>
          <a:effectLst>
            <a:outerShdw sx="100000" sy="100000" kx="0" ky="0" algn="bl" rotWithShape="0" blurRad="101600" dist="25400" dir="8100000">
              <a:srgbClr val="B0B8CC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14016" y="749808"/>
            <a:ext cx="2048256" cy="50292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14016" y="749808"/>
            <a:ext cx="50292" cy="1691640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05456" y="84124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BR-002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505456" y="10424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팬클럽 1:1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05456" y="1353312"/>
            <a:ext cx="1847088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아이돌 등록 시 팬클럽 자동 생성. 1명당 공식 팬클럽 1개만 존재 (UNIQUE 제약).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90288" y="749808"/>
            <a:ext cx="2048256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  <a:effectLst>
            <a:outerShdw sx="100000" sy="100000" kx="0" ky="0" algn="bl" rotWithShape="0" blurRad="101600" dist="25400" dir="8100000">
              <a:srgbClr val="B0B8CC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90288" y="749808"/>
            <a:ext cx="2048256" cy="5029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90288" y="749808"/>
            <a:ext cx="50292" cy="169164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81728" y="84124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BR-003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681728" y="10424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채팅 게이트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81728" y="1353312"/>
            <a:ext cx="1847088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팬클럽 멤버십 확인 후 WebSocket 연결 허용. 미가입 시 FANCLUB_GATE(403) 즉시 반환.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766560" y="749808"/>
            <a:ext cx="2048256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6B35C9"/>
            </a:solidFill>
            <a:prstDash val="solid"/>
          </a:ln>
          <a:effectLst>
            <a:outerShdw sx="100000" sy="100000" kx="0" ky="0" algn="bl" rotWithShape="0" blurRad="101600" dist="25400" dir="8100000">
              <a:srgbClr val="B0B8CC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66560" y="749808"/>
            <a:ext cx="2048256" cy="50292"/>
          </a:xfrm>
          <a:prstGeom prst="rect">
            <a:avLst/>
          </a:prstGeom>
          <a:solidFill>
            <a:srgbClr val="6B35C9"/>
          </a:solidFill>
          <a:ln w="12700">
            <a:solidFill>
              <a:srgbClr val="6B35C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66560" y="749808"/>
            <a:ext cx="50292" cy="1691640"/>
          </a:xfrm>
          <a:prstGeom prst="rect">
            <a:avLst/>
          </a:prstGeom>
          <a:solidFill>
            <a:srgbClr val="6B35C9"/>
          </a:solidFill>
          <a:ln w="12700">
            <a:solidFill>
              <a:srgbClr val="6B35C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0" y="84124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BR-004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858000" y="10424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채팅 쿼터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0" y="1353312"/>
            <a:ext cx="1847088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일일 기본 5회 (관리자 설정 가능 1~99). Redis INCR + KST 자정 EXPIREAT. 자동 메시지는 쿼터 미차감.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37744" y="2578608"/>
            <a:ext cx="2048256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1A5FA8"/>
            </a:solidFill>
            <a:prstDash val="solid"/>
          </a:ln>
          <a:effectLst>
            <a:outerShdw sx="100000" sy="100000" kx="0" ky="0" algn="bl" rotWithShape="0" blurRad="101600" dist="25400" dir="8100000">
              <a:srgbClr val="B0B8CC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37744" y="2578608"/>
            <a:ext cx="2048256" cy="50292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7744" y="2578608"/>
            <a:ext cx="50292" cy="1691640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9184" y="267004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BR-005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29184" y="28712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가챠 랜덤성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29184" y="3182112"/>
            <a:ext cx="1847088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포토카드 선택은 서버 사이드 crypto.randomInt(0,12)만 허용. 클라이언트 개입 불가. 중복 보유 허용.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414016" y="2578608"/>
            <a:ext cx="2048256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  <a:effectLst>
            <a:outerShdw sx="100000" sy="100000" kx="0" ky="0" algn="bl" rotWithShape="0" blurRad="101600" dist="25400" dir="8100000">
              <a:srgbClr val="B0B8CC">
                <a:alpha val="14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414016" y="2578608"/>
            <a:ext cx="2048256" cy="5029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14016" y="2578608"/>
            <a:ext cx="50292" cy="169164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05456" y="267004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BR-006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2505456" y="28712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투표 가중치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505456" y="3182112"/>
            <a:ext cx="1847088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결선 점수 = Σ(투표수[타입] × 가중치[타입]). 가중치 합계 ≠ 1.0이면 400 오류 반환 (±0.001 허용).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590288" y="2578608"/>
            <a:ext cx="2048256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6B35C9"/>
            </a:solidFill>
            <a:prstDash val="solid"/>
          </a:ln>
          <a:effectLst>
            <a:outerShdw sx="100000" sy="100000" kx="0" ky="0" algn="bl" rotWithShape="0" blurRad="101600" dist="25400" dir="8100000">
              <a:srgbClr val="B0B8CC">
                <a:alpha val="14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590288" y="2578608"/>
            <a:ext cx="2048256" cy="50292"/>
          </a:xfrm>
          <a:prstGeom prst="rect">
            <a:avLst/>
          </a:prstGeom>
          <a:solidFill>
            <a:srgbClr val="6B35C9"/>
          </a:solidFill>
          <a:ln w="12700">
            <a:solidFill>
              <a:srgbClr val="6B35C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90288" y="2578608"/>
            <a:ext cx="50292" cy="1691640"/>
          </a:xfrm>
          <a:prstGeom prst="rect">
            <a:avLst/>
          </a:prstGeom>
          <a:solidFill>
            <a:srgbClr val="6B35C9"/>
          </a:solidFill>
          <a:ln w="12700">
            <a:solidFill>
              <a:srgbClr val="6B35C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81728" y="267004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BR-007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681728" y="28712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IAP 멱등성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681728" y="3182112"/>
            <a:ext cx="1847088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서버가 App Store/Play 영수증을 직접 검증. idempotency_key로 중복 크레딧 방지. 트랜잭션 확정 후 크레딧.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766560" y="2578608"/>
            <a:ext cx="2048256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1A5FA8"/>
            </a:solidFill>
            <a:prstDash val="solid"/>
          </a:ln>
          <a:effectLst>
            <a:outerShdw sx="100000" sy="100000" kx="0" ky="0" algn="bl" rotWithShape="0" blurRad="101600" dist="25400" dir="8100000">
              <a:srgbClr val="B0B8CC">
                <a:alpha val="14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766560" y="2578608"/>
            <a:ext cx="2048256" cy="50292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766560" y="2578608"/>
            <a:ext cx="50292" cy="1691640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58000" y="267004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BR-008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858000" y="28712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 채널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858000" y="3182112"/>
            <a:ext cx="1847088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디지털 재화(쿠폰·투표권·포토카드) → 앱스토어 정책상 IAP 필수. Stripe는 정산·환불·B2B 전용.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7F8FA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A-idol Platform  ·  Requirements v1.0.0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비기능 요구사항 &amp; API 요약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4617720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  <a:effectLst>
            <a:outerShdw sx="100000" sy="100000" kx="0" ky="0" algn="bl" rotWithShape="0" blurRad="101600" dist="25400" dir="8100000">
              <a:srgbClr val="B0B8CC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49808"/>
            <a:ext cx="4617720" cy="50292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77824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비기능 요구사항 (NFR)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243584"/>
            <a:ext cx="4498848" cy="3255264"/>
          </a:xfrm>
          <a:prstGeom prst="roundRect">
            <a:avLst>
              <a:gd name="adj" fmla="val 2809"/>
            </a:avLst>
          </a:prstGeom>
          <a:solidFill>
            <a:srgbClr val="DFE1E8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2336" y="1280160"/>
            <a:ext cx="2139696" cy="265176"/>
          </a:xfrm>
          <a:prstGeom prst="rect">
            <a:avLst/>
          </a:prstGeom>
          <a:solidFill>
            <a:srgbClr val="1A5FA8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280160"/>
            <a:ext cx="204825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항목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42032" y="1280160"/>
            <a:ext cx="2286000" cy="265176"/>
          </a:xfrm>
          <a:prstGeom prst="rect">
            <a:avLst/>
          </a:prstGeom>
          <a:solidFill>
            <a:srgbClr val="1A5FA8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15184" y="1280160"/>
            <a:ext cx="21945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 / 기준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02336" y="1545336"/>
            <a:ext cx="2139696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1545336"/>
            <a:ext cx="204825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응답 (p95)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42032" y="1545336"/>
            <a:ext cx="228600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15184" y="1545336"/>
            <a:ext cx="21945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300ms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02336" y="1810512"/>
            <a:ext cx="2139696" cy="265176"/>
          </a:xfrm>
          <a:prstGeom prst="rect">
            <a:avLst/>
          </a:prstGeom>
          <a:solidFill>
            <a:srgbClr val="F0F5FB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1810512"/>
            <a:ext cx="204825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투표 순위 갱신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42032" y="1810512"/>
            <a:ext cx="2286000" cy="265176"/>
          </a:xfrm>
          <a:prstGeom prst="rect">
            <a:avLst/>
          </a:prstGeom>
          <a:solidFill>
            <a:srgbClr val="F0F5FB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15184" y="1810512"/>
            <a:ext cx="21945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5초 (Redis ZSET)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02336" y="2075688"/>
            <a:ext cx="2139696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2075688"/>
            <a:ext cx="204825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동시 WS 연결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542032" y="2075688"/>
            <a:ext cx="228600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15184" y="2075688"/>
            <a:ext cx="21945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10,000+ 동시 접속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02336" y="2340864"/>
            <a:ext cx="2139696" cy="265176"/>
          </a:xfrm>
          <a:prstGeom prst="rect">
            <a:avLst/>
          </a:prstGeom>
          <a:solidFill>
            <a:srgbClr val="F0F5FB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2340864"/>
            <a:ext cx="204825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투표 쓰기 처리량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542032" y="2340864"/>
            <a:ext cx="2286000" cy="265176"/>
          </a:xfrm>
          <a:prstGeom prst="rect">
            <a:avLst/>
          </a:prstGeom>
          <a:solidFill>
            <a:srgbClr val="F0F5FB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15184" y="2340864"/>
            <a:ext cx="21945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1,000건/초 (peak)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02336" y="2606040"/>
            <a:ext cx="2139696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" y="2606040"/>
            <a:ext cx="204825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가용성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542032" y="2606040"/>
            <a:ext cx="228600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15184" y="2606040"/>
            <a:ext cx="21945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99.5% monthly uptime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02336" y="2871216"/>
            <a:ext cx="2139696" cy="265176"/>
          </a:xfrm>
          <a:prstGeom prst="rect">
            <a:avLst/>
          </a:prstGeom>
          <a:solidFill>
            <a:srgbClr val="F0F5FB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" y="2871216"/>
            <a:ext cx="204825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542032" y="2871216"/>
            <a:ext cx="2286000" cy="265176"/>
          </a:xfrm>
          <a:prstGeom prst="rect">
            <a:avLst/>
          </a:prstGeom>
          <a:solidFill>
            <a:srgbClr val="F0F5FB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15184" y="2871216"/>
            <a:ext cx="21945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Guard + Rate Limit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02336" y="3136392"/>
            <a:ext cx="2139696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" y="3136392"/>
            <a:ext cx="204825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542032" y="3136392"/>
            <a:ext cx="228600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15184" y="3136392"/>
            <a:ext cx="21945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PCI-DSS — PG가 카드 데이터 처리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02336" y="3401568"/>
            <a:ext cx="2139696" cy="265176"/>
          </a:xfrm>
          <a:prstGeom prst="rect">
            <a:avLst/>
          </a:prstGeom>
          <a:solidFill>
            <a:srgbClr val="F0F5FB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" y="3401568"/>
            <a:ext cx="204825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개인정보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542032" y="3401568"/>
            <a:ext cx="2286000" cy="265176"/>
          </a:xfrm>
          <a:prstGeom prst="rect">
            <a:avLst/>
          </a:prstGeom>
          <a:solidFill>
            <a:srgbClr val="F0F5FB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15184" y="3401568"/>
            <a:ext cx="21945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PIPA 준수 (암호화·30일 파기)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02336" y="3666744"/>
            <a:ext cx="2139696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" y="3666744"/>
            <a:ext cx="204825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앱 지원 범위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542032" y="3666744"/>
            <a:ext cx="228600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15184" y="3666744"/>
            <a:ext cx="21945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15+  /  Android 11+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02336" y="3931920"/>
            <a:ext cx="2139696" cy="265176"/>
          </a:xfrm>
          <a:prstGeom prst="rect">
            <a:avLst/>
          </a:prstGeom>
          <a:solidFill>
            <a:srgbClr val="F0F5FB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5488" y="3931920"/>
            <a:ext cx="204825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앱 콜드 스타트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542032" y="3931920"/>
            <a:ext cx="2286000" cy="265176"/>
          </a:xfrm>
          <a:prstGeom prst="rect">
            <a:avLst/>
          </a:prstGeom>
          <a:solidFill>
            <a:srgbClr val="F0F5FB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615184" y="3931920"/>
            <a:ext cx="21945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3초 (mid-range Android)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02336" y="4197096"/>
            <a:ext cx="2139696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5488" y="4197096"/>
            <a:ext cx="204825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IAP 검증 완료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542032" y="4197096"/>
            <a:ext cx="228600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615184" y="4197096"/>
            <a:ext cx="21945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5초 후 크레딧 지급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166360" y="749808"/>
            <a:ext cx="3657600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  <a:effectLst>
            <a:outerShdw sx="100000" sy="100000" kx="0" ky="0" algn="bl" rotWithShape="0" blurRad="101600" dist="25400" dir="8100000">
              <a:srgbClr val="B0B8CC">
                <a:alpha val="14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5166360" y="749808"/>
            <a:ext cx="3657600" cy="50292"/>
          </a:xfrm>
          <a:prstGeom prst="rect">
            <a:avLst/>
          </a:prstGeom>
          <a:solidFill>
            <a:srgbClr val="6B35C9"/>
          </a:solidFill>
          <a:ln w="12700">
            <a:solidFill>
              <a:srgbClr val="6B35C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349240" y="877824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API 엔드포인트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5212080" y="1243584"/>
            <a:ext cx="3566160" cy="2990088"/>
          </a:xfrm>
          <a:prstGeom prst="roundRect">
            <a:avLst>
              <a:gd name="adj" fmla="val 3058"/>
            </a:avLst>
          </a:prstGeom>
          <a:solidFill>
            <a:srgbClr val="DFE1E8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248656" y="1280160"/>
            <a:ext cx="475488" cy="265176"/>
          </a:xfrm>
          <a:prstGeom prst="rect">
            <a:avLst/>
          </a:prstGeom>
          <a:solidFill>
            <a:srgbClr val="3D6FA8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321808" y="1280160"/>
            <a:ext cx="38404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5724144" y="1280160"/>
            <a:ext cx="1389888" cy="265176"/>
          </a:xfrm>
          <a:prstGeom prst="rect">
            <a:avLst/>
          </a:prstGeom>
          <a:solidFill>
            <a:srgbClr val="3D6FA8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797296" y="1280160"/>
            <a:ext cx="129844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7114032" y="1280160"/>
            <a:ext cx="1627632" cy="265176"/>
          </a:xfrm>
          <a:prstGeom prst="rect">
            <a:avLst/>
          </a:prstGeom>
          <a:solidFill>
            <a:srgbClr val="3D6FA8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187184" y="1280160"/>
            <a:ext cx="153619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설명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5248656" y="1545336"/>
            <a:ext cx="475488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321808" y="1545336"/>
            <a:ext cx="38404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5724144" y="1545336"/>
            <a:ext cx="1389888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797296" y="1545336"/>
            <a:ext cx="129844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/auth/kakao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7114032" y="1545336"/>
            <a:ext cx="1627632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187184" y="1545336"/>
            <a:ext cx="153619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카카오 로그인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5248656" y="1810512"/>
            <a:ext cx="475488" cy="265176"/>
          </a:xfrm>
          <a:prstGeom prst="rect">
            <a:avLst/>
          </a:prstGeom>
          <a:solidFill>
            <a:srgbClr val="EBF2FB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321808" y="1810512"/>
            <a:ext cx="38404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5724144" y="1810512"/>
            <a:ext cx="1389888" cy="265176"/>
          </a:xfrm>
          <a:prstGeom prst="rect">
            <a:avLst/>
          </a:prstGeom>
          <a:solidFill>
            <a:srgbClr val="EBF2FB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797296" y="1810512"/>
            <a:ext cx="129844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/idols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7114032" y="1810512"/>
            <a:ext cx="1627632" cy="265176"/>
          </a:xfrm>
          <a:prstGeom prst="rect">
            <a:avLst/>
          </a:prstGeom>
          <a:solidFill>
            <a:srgbClr val="EBF2FB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187184" y="1810512"/>
            <a:ext cx="153619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아이돌 목록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5248656" y="2075688"/>
            <a:ext cx="475488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321808" y="2075688"/>
            <a:ext cx="38404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5724144" y="2075688"/>
            <a:ext cx="1389888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797296" y="2075688"/>
            <a:ext cx="129844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/idols/:id/like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7114032" y="2075688"/>
            <a:ext cx="1627632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187184" y="2075688"/>
            <a:ext cx="153619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좋아요 토글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5248656" y="2340864"/>
            <a:ext cx="475488" cy="265176"/>
          </a:xfrm>
          <a:prstGeom prst="rect">
            <a:avLst/>
          </a:prstGeom>
          <a:solidFill>
            <a:srgbClr val="EBF2FB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321808" y="2340864"/>
            <a:ext cx="38404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5724144" y="2340864"/>
            <a:ext cx="1389888" cy="265176"/>
          </a:xfrm>
          <a:prstGeom prst="rect">
            <a:avLst/>
          </a:prstGeom>
          <a:solidFill>
            <a:srgbClr val="EBF2FB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797296" y="2340864"/>
            <a:ext cx="129844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/fan-clubs/:id/join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7114032" y="2340864"/>
            <a:ext cx="1627632" cy="265176"/>
          </a:xfrm>
          <a:prstGeom prst="rect">
            <a:avLst/>
          </a:prstGeom>
          <a:solidFill>
            <a:srgbClr val="EBF2FB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187184" y="2340864"/>
            <a:ext cx="153619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팬클럽 가입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5248656" y="2606040"/>
            <a:ext cx="475488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321808" y="2606040"/>
            <a:ext cx="38404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5724144" y="2606040"/>
            <a:ext cx="1389888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797296" y="2606040"/>
            <a:ext cx="129844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/chat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7114032" y="2606040"/>
            <a:ext cx="1627632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187184" y="2606040"/>
            <a:ext cx="153619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채팅 WebSocket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5248656" y="2871216"/>
            <a:ext cx="475488" cy="265176"/>
          </a:xfrm>
          <a:prstGeom prst="rect">
            <a:avLst/>
          </a:prstGeom>
          <a:solidFill>
            <a:srgbClr val="EBF2FB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321808" y="2871216"/>
            <a:ext cx="38404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5724144" y="2871216"/>
            <a:ext cx="1389888" cy="265176"/>
          </a:xfrm>
          <a:prstGeom prst="rect">
            <a:avLst/>
          </a:prstGeom>
          <a:solidFill>
            <a:srgbClr val="EBF2FB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797296" y="2871216"/>
            <a:ext cx="129844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/purchases/verify-iap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7114032" y="2871216"/>
            <a:ext cx="1627632" cy="265176"/>
          </a:xfrm>
          <a:prstGeom prst="rect">
            <a:avLst/>
          </a:prstGeom>
          <a:solidFill>
            <a:srgbClr val="EBF2FB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187184" y="2871216"/>
            <a:ext cx="153619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IAP 검증·크레딧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5248656" y="3136392"/>
            <a:ext cx="475488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5321808" y="3136392"/>
            <a:ext cx="38404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5724144" y="3136392"/>
            <a:ext cx="1389888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5797296" y="3136392"/>
            <a:ext cx="129844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/auditions/rounds/:id/vote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7114032" y="3136392"/>
            <a:ext cx="1627632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7187184" y="3136392"/>
            <a:ext cx="153619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투표 캐스팅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5248656" y="3401568"/>
            <a:ext cx="475488" cy="265176"/>
          </a:xfrm>
          <a:prstGeom prst="rect">
            <a:avLst/>
          </a:prstGeom>
          <a:solidFill>
            <a:srgbClr val="EBF2FB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5321808" y="3401568"/>
            <a:ext cx="38404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5724144" y="3401568"/>
            <a:ext cx="1389888" cy="265176"/>
          </a:xfrm>
          <a:prstGeom prst="rect">
            <a:avLst/>
          </a:prstGeom>
          <a:solidFill>
            <a:srgbClr val="EBF2FB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797296" y="3401568"/>
            <a:ext cx="129844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/photocards/pull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7114032" y="3401568"/>
            <a:ext cx="1627632" cy="265176"/>
          </a:xfrm>
          <a:prstGeom prst="rect">
            <a:avLst/>
          </a:prstGeom>
          <a:solidFill>
            <a:srgbClr val="EBF2FB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7187184" y="3401568"/>
            <a:ext cx="153619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포토카드 가챠</a:t>
            </a:r>
            <a:endParaRPr lang="en-US" sz="900" dirty="0"/>
          </a:p>
        </p:txBody>
      </p:sp>
      <p:sp>
        <p:nvSpPr>
          <p:cNvPr id="114" name="Shape 112"/>
          <p:cNvSpPr/>
          <p:nvPr/>
        </p:nvSpPr>
        <p:spPr>
          <a:xfrm>
            <a:off x="5248656" y="3666744"/>
            <a:ext cx="475488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5321808" y="3666744"/>
            <a:ext cx="38404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5724144" y="3666744"/>
            <a:ext cx="1389888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5797296" y="3666744"/>
            <a:ext cx="129844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/admin/stats/votes</a:t>
            </a:r>
            <a:endParaRPr lang="en-US" sz="900" dirty="0"/>
          </a:p>
        </p:txBody>
      </p:sp>
      <p:sp>
        <p:nvSpPr>
          <p:cNvPr id="118" name="Shape 116"/>
          <p:cNvSpPr/>
          <p:nvPr/>
        </p:nvSpPr>
        <p:spPr>
          <a:xfrm>
            <a:off x="7114032" y="3666744"/>
            <a:ext cx="1627632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7187184" y="3666744"/>
            <a:ext cx="153619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투표 통계 (Admin)</a:t>
            </a:r>
            <a:endParaRPr lang="en-US" sz="900" dirty="0"/>
          </a:p>
        </p:txBody>
      </p:sp>
      <p:sp>
        <p:nvSpPr>
          <p:cNvPr id="120" name="Shape 118"/>
          <p:cNvSpPr/>
          <p:nvPr/>
        </p:nvSpPr>
        <p:spPr>
          <a:xfrm>
            <a:off x="5248656" y="3931920"/>
            <a:ext cx="475488" cy="265176"/>
          </a:xfrm>
          <a:prstGeom prst="rect">
            <a:avLst/>
          </a:prstGeom>
          <a:solidFill>
            <a:srgbClr val="EBF2FB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5321808" y="3931920"/>
            <a:ext cx="38404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5724144" y="3931920"/>
            <a:ext cx="1389888" cy="265176"/>
          </a:xfrm>
          <a:prstGeom prst="rect">
            <a:avLst/>
          </a:prstGeom>
          <a:solidFill>
            <a:srgbClr val="EBF2FB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5797296" y="3931920"/>
            <a:ext cx="129844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/admin/rounds/:id/activate</a:t>
            </a:r>
            <a:endParaRPr lang="en-US" sz="900" dirty="0"/>
          </a:p>
        </p:txBody>
      </p:sp>
      <p:sp>
        <p:nvSpPr>
          <p:cNvPr id="124" name="Shape 122"/>
          <p:cNvSpPr/>
          <p:nvPr/>
        </p:nvSpPr>
        <p:spPr>
          <a:xfrm>
            <a:off x="7114032" y="3931920"/>
            <a:ext cx="1627632" cy="265176"/>
          </a:xfrm>
          <a:prstGeom prst="rect">
            <a:avLst/>
          </a:prstGeom>
          <a:solidFill>
            <a:srgbClr val="EBF2FB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7187184" y="3931920"/>
            <a:ext cx="153619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라운드 활성화</a:t>
            </a:r>
            <a:endParaRPr lang="en-US" sz="900" dirty="0"/>
          </a:p>
        </p:txBody>
      </p:sp>
      <p:sp>
        <p:nvSpPr>
          <p:cNvPr id="126" name="Shape 12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7F8FA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A-idol Platform  ·  Requirements v1.0.0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6B35C9"/>
          </a:solidFill>
          <a:ln w="12700">
            <a:solidFill>
              <a:srgbClr val="6B35C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결제 아키텍처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2743200" cy="3712464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  <a:effectLst>
            <a:outerShdw sx="100000" sy="100000" kx="0" ky="0" algn="bl" rotWithShape="0" blurRad="101600" dist="25400" dir="8100000">
              <a:srgbClr val="B0B8CC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49808"/>
            <a:ext cx="2743200" cy="50292"/>
          </a:xfrm>
          <a:prstGeom prst="rect">
            <a:avLst/>
          </a:prstGeom>
          <a:solidFill>
            <a:srgbClr val="6B35C9"/>
          </a:solidFill>
          <a:ln w="12700">
            <a:solidFill>
              <a:srgbClr val="6B35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850392"/>
            <a:ext cx="25237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 IAP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(StoreKit 2)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1435608"/>
            <a:ext cx="1737360" cy="256032"/>
          </a:xfrm>
          <a:prstGeom prst="roundRect">
            <a:avLst>
              <a:gd name="adj" fmla="val 25000"/>
            </a:avLst>
          </a:prstGeom>
          <a:solidFill>
            <a:srgbClr val="F7F8FA"/>
          </a:solidFill>
          <a:ln w="12700">
            <a:solidFill>
              <a:srgbClr val="6B35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3560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29768" y="1801368"/>
            <a:ext cx="2523744" cy="18288"/>
          </a:xfrm>
          <a:prstGeom prst="rect">
            <a:avLst/>
          </a:prstGeom>
          <a:solidFill>
            <a:srgbClr val="EEEFF3"/>
          </a:solidFill>
          <a:ln w="12700">
            <a:solidFill>
              <a:srgbClr val="EEEF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874520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 상품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29768" y="2084832"/>
            <a:ext cx="25237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채팅 쿠폰 / 투표권 / 포토카드 뽑기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29768" y="2724912"/>
            <a:ext cx="2523744" cy="18288"/>
          </a:xfrm>
          <a:prstGeom prst="rect">
            <a:avLst/>
          </a:prstGeom>
          <a:solidFill>
            <a:srgbClr val="EEEFF3"/>
          </a:solidFill>
          <a:ln w="12700">
            <a:solidFill>
              <a:srgbClr val="EEEF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2798064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 검증 방식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29768" y="3017520"/>
            <a:ext cx="25237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영수증 서버 검증</a:t>
            </a:r>
            <a:endParaRPr lang="en-US" sz="9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(App Store Server API)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0" y="749808"/>
            <a:ext cx="2743200" cy="3712464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  <a:effectLst>
            <a:outerShdw sx="100000" sy="100000" kx="0" ky="0" algn="bl" rotWithShape="0" blurRad="101600" dist="25400" dir="8100000">
              <a:srgbClr val="B0B8CC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749808"/>
            <a:ext cx="2743200" cy="50292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0128" y="850392"/>
            <a:ext cx="25237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Play Billing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703320" y="1435608"/>
            <a:ext cx="1737360" cy="256032"/>
          </a:xfrm>
          <a:prstGeom prst="roundRect">
            <a:avLst>
              <a:gd name="adj" fmla="val 25000"/>
            </a:avLst>
          </a:prstGeom>
          <a:solidFill>
            <a:srgbClr val="F7F8FA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03320" y="143560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310128" y="1801368"/>
            <a:ext cx="2523744" cy="18288"/>
          </a:xfrm>
          <a:prstGeom prst="rect">
            <a:avLst/>
          </a:prstGeom>
          <a:solidFill>
            <a:srgbClr val="EEEFF3"/>
          </a:solidFill>
          <a:ln w="12700">
            <a:solidFill>
              <a:srgbClr val="EEEFF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10128" y="1874520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 상품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10128" y="2084832"/>
            <a:ext cx="25237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채팅 쿠폰 / 투표권 / 포토카드 뽑기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310128" y="2724912"/>
            <a:ext cx="2523744" cy="18288"/>
          </a:xfrm>
          <a:prstGeom prst="rect">
            <a:avLst/>
          </a:prstGeom>
          <a:solidFill>
            <a:srgbClr val="EEEFF3"/>
          </a:solidFill>
          <a:ln w="12700">
            <a:solidFill>
              <a:srgbClr val="EEEF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10128" y="2798064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 검증 방식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10128" y="3017520"/>
            <a:ext cx="25237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Token 서버 검증</a:t>
            </a:r>
            <a:endParaRPr lang="en-US" sz="9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(Google Play Developer API)</a:t>
            </a:r>
            <a:endParaRPr lang="en-US" sz="9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3일 이내 acknowledge 필수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80760" y="749808"/>
            <a:ext cx="2743200" cy="3712464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  <a:effectLst>
            <a:outerShdw sx="100000" sy="100000" kx="0" ky="0" algn="bl" rotWithShape="0" blurRad="101600" dist="25400" dir="8100000">
              <a:srgbClr val="B0B8CC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80760" y="749808"/>
            <a:ext cx="2743200" cy="5029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90488" y="850392"/>
            <a:ext cx="25237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583680" y="1435608"/>
            <a:ext cx="1737360" cy="256032"/>
          </a:xfrm>
          <a:prstGeom prst="roundRect">
            <a:avLst>
              <a:gd name="adj" fmla="val 25000"/>
            </a:avLst>
          </a:prstGeom>
          <a:solidFill>
            <a:srgbClr val="F7F8FA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0" y="143560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SG 법인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190488" y="1801368"/>
            <a:ext cx="2523744" cy="18288"/>
          </a:xfrm>
          <a:prstGeom prst="rect">
            <a:avLst/>
          </a:prstGeom>
          <a:solidFill>
            <a:srgbClr val="EEEFF3"/>
          </a:solidFill>
          <a:ln w="12700">
            <a:solidFill>
              <a:srgbClr val="EEEFF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90488" y="1874520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 상품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90488" y="2084832"/>
            <a:ext cx="25237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정산 / 환불 / B2B</a:t>
            </a:r>
            <a:endParaRPr lang="en-US" sz="9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(Phase 2) 에이전시 페이아웃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190488" y="2724912"/>
            <a:ext cx="2523744" cy="18288"/>
          </a:xfrm>
          <a:prstGeom prst="rect">
            <a:avLst/>
          </a:prstGeom>
          <a:solidFill>
            <a:srgbClr val="EEEFF3"/>
          </a:solidFill>
          <a:ln w="12700">
            <a:solidFill>
              <a:srgbClr val="EEEFF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90488" y="2798064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 검증 방식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190488" y="3017520"/>
            <a:ext cx="25237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Connect로</a:t>
            </a:r>
            <a:endParaRPr lang="en-US" sz="9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소속사 수익 분배</a:t>
            </a:r>
            <a:endParaRPr lang="en-US" sz="9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(Phase 2 예정)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0040" y="4553712"/>
            <a:ext cx="8503920" cy="347472"/>
          </a:xfrm>
          <a:prstGeom prst="roundRect">
            <a:avLst>
              <a:gd name="adj" fmla="val 18421"/>
            </a:avLst>
          </a:prstGeom>
          <a:solidFill>
            <a:srgbClr val="EBF2FB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" y="4553712"/>
            <a:ext cx="54864" cy="347472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" y="455371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원칙  |  서버가 영수증을 직접 검증 후 크레딧 지급  ·  idempotency_key로 중복 지급 방지  ·  디지털 재화는 IAP 필수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7F8FA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A-idol Platform  ·  Requirements v1.0.0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미결 이슈 &amp; Phase 2 로드맵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4937760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  <a:effectLst>
            <a:outerShdw sx="100000" sy="100000" kx="0" ky="0" algn="bl" rotWithShape="0" blurRad="101600" dist="25400" dir="8100000">
              <a:srgbClr val="B0B8CC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49808"/>
            <a:ext cx="4937760" cy="50292"/>
          </a:xfrm>
          <a:prstGeom prst="rect">
            <a:avLst/>
          </a:prstGeom>
          <a:solidFill>
            <a:srgbClr val="6B35C9"/>
          </a:solidFill>
          <a:ln w="12700">
            <a:solidFill>
              <a:srgbClr val="6B35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7782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미결 이슈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243584"/>
            <a:ext cx="4846320" cy="2505456"/>
          </a:xfrm>
          <a:prstGeom prst="roundRect">
            <a:avLst>
              <a:gd name="adj" fmla="val 3650"/>
            </a:avLst>
          </a:prstGeom>
          <a:solidFill>
            <a:srgbClr val="DFE1E8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2336" y="1280160"/>
            <a:ext cx="566928" cy="347472"/>
          </a:xfrm>
          <a:prstGeom prst="rect">
            <a:avLst/>
          </a:prstGeom>
          <a:solidFill>
            <a:srgbClr val="1A5FA8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280160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969264" y="1280160"/>
            <a:ext cx="932688" cy="347472"/>
          </a:xfrm>
          <a:prstGeom prst="rect">
            <a:avLst/>
          </a:prstGeom>
          <a:solidFill>
            <a:srgbClr val="1A5FA8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2416" y="1280160"/>
            <a:ext cx="841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항목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901952" y="1280160"/>
            <a:ext cx="658368" cy="347472"/>
          </a:xfrm>
          <a:prstGeom prst="rect">
            <a:avLst/>
          </a:prstGeom>
          <a:solidFill>
            <a:srgbClr val="1A5FA8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75104" y="1280160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560320" y="1280160"/>
            <a:ext cx="2615184" cy="347472"/>
          </a:xfrm>
          <a:prstGeom prst="rect">
            <a:avLst/>
          </a:prstGeom>
          <a:solidFill>
            <a:srgbClr val="1A5FA8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33472" y="1280160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내용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02336" y="1627632"/>
            <a:ext cx="56692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1627632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OI-001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69264" y="1627632"/>
            <a:ext cx="93268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2416" y="1627632"/>
            <a:ext cx="841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 PG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901952" y="1627632"/>
            <a:ext cx="65836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75104" y="1627632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확정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560320" y="1627632"/>
            <a:ext cx="2615184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33472" y="1627632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Stripe(SG법인) 정산·환불. 디지털 재화는 IAP 필수.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02336" y="1975104"/>
            <a:ext cx="566928" cy="347472"/>
          </a:xfrm>
          <a:prstGeom prst="rect">
            <a:avLst/>
          </a:prstGeom>
          <a:solidFill>
            <a:srgbClr val="F0F5FB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1975104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OI-002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69264" y="1975104"/>
            <a:ext cx="932688" cy="347472"/>
          </a:xfrm>
          <a:prstGeom prst="rect">
            <a:avLst/>
          </a:prstGeom>
          <a:solidFill>
            <a:srgbClr val="F0F5FB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42416" y="1975104"/>
            <a:ext cx="841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채팅 엔진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901952" y="1975104"/>
            <a:ext cx="658368" cy="347472"/>
          </a:xfrm>
          <a:prstGeom prst="rect">
            <a:avLst/>
          </a:prstGeom>
          <a:solidFill>
            <a:srgbClr val="F0F5FB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1975104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검토중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560320" y="1975104"/>
            <a:ext cx="2615184" cy="347472"/>
          </a:xfrm>
          <a:prstGeom prst="rect">
            <a:avLst/>
          </a:prstGeom>
          <a:solidFill>
            <a:srgbClr val="F0F5FB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33472" y="1975104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Rule-based. Phase 2: Claude API 연동.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02336" y="2322576"/>
            <a:ext cx="56692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" y="2322576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OI-003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69264" y="2322576"/>
            <a:ext cx="93268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42416" y="2322576"/>
            <a:ext cx="841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결선 진출 로직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901952" y="2322576"/>
            <a:ext cx="65836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75104" y="2322576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검토중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560320" y="2322576"/>
            <a:ext cx="2615184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33472" y="2322576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스케줄러 자동 계산 + 어드민 최종 확정 방식.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02336" y="2670048"/>
            <a:ext cx="566928" cy="347472"/>
          </a:xfrm>
          <a:prstGeom prst="rect">
            <a:avLst/>
          </a:prstGeom>
          <a:solidFill>
            <a:srgbClr val="F0F5FB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" y="2670048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OI-004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969264" y="2670048"/>
            <a:ext cx="932688" cy="347472"/>
          </a:xfrm>
          <a:prstGeom prst="rect">
            <a:avLst/>
          </a:prstGeom>
          <a:solidFill>
            <a:srgbClr val="F0F5FB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42416" y="2670048"/>
            <a:ext cx="841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공유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901952" y="2670048"/>
            <a:ext cx="658368" cy="347472"/>
          </a:xfrm>
          <a:prstGeom prst="rect">
            <a:avLst/>
          </a:prstGeom>
          <a:solidFill>
            <a:srgbClr val="F0F5FB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975104" y="2670048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보류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560320" y="2670048"/>
            <a:ext cx="2615184" cy="347472"/>
          </a:xfrm>
          <a:prstGeom prst="rect">
            <a:avLst/>
          </a:prstGeom>
          <a:solidFill>
            <a:srgbClr val="F0F5FB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33472" y="2670048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네이티브 Share Sheet.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02336" y="3017520"/>
            <a:ext cx="56692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5488" y="3017520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OI-005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969264" y="3017520"/>
            <a:ext cx="93268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42416" y="3017520"/>
            <a:ext cx="841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팔로우 알림 정책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901952" y="3017520"/>
            <a:ext cx="65836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975104" y="3017520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보류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560320" y="3017520"/>
            <a:ext cx="2615184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633472" y="3017520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알림 빈도·내용 정책 결정 필요.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02336" y="3364992"/>
            <a:ext cx="566928" cy="347472"/>
          </a:xfrm>
          <a:prstGeom prst="rect">
            <a:avLst/>
          </a:prstGeom>
          <a:solidFill>
            <a:srgbClr val="F0F5FB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5488" y="3364992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OI-006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969264" y="3364992"/>
            <a:ext cx="932688" cy="347472"/>
          </a:xfrm>
          <a:prstGeom prst="rect">
            <a:avLst/>
          </a:prstGeom>
          <a:solidFill>
            <a:srgbClr val="F0F5FB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42416" y="3364992"/>
            <a:ext cx="841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소속사 서브어드민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1901952" y="3364992"/>
            <a:ext cx="658368" cy="347472"/>
          </a:xfrm>
          <a:prstGeom prst="rect">
            <a:avLst/>
          </a:prstGeom>
          <a:solidFill>
            <a:srgbClr val="F0F5FB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975104" y="3364992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보류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2560320" y="3364992"/>
            <a:ext cx="2615184" cy="347472"/>
          </a:xfrm>
          <a:prstGeom prst="rect">
            <a:avLst/>
          </a:prstGeom>
          <a:solidFill>
            <a:srgbClr val="F0F5FB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633472" y="3364992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소속사 전용 CMS 포털.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5440680" y="749808"/>
            <a:ext cx="3383280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8"/>
            </a:solidFill>
            <a:prstDash val="solid"/>
          </a:ln>
          <a:effectLst>
            <a:outerShdw sx="100000" sy="100000" kx="0" ky="0" algn="bl" rotWithShape="0" blurRad="101600" dist="25400" dir="8100000">
              <a:srgbClr val="B0B8CC">
                <a:alpha val="14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5440680" y="749808"/>
            <a:ext cx="3383280" cy="50292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596128" y="877824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로드맵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5559552" y="1389888"/>
            <a:ext cx="91440" cy="91440"/>
          </a:xfrm>
          <a:prstGeom prst="ellipse">
            <a:avLst/>
          </a:prstGeom>
          <a:solidFill>
            <a:srgbClr val="6B35C9"/>
          </a:solidFill>
          <a:ln w="12700">
            <a:solidFill>
              <a:srgbClr val="6B35C9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724144" y="131673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연동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5605272" y="1481328"/>
            <a:ext cx="0" cy="219456"/>
          </a:xfrm>
          <a:prstGeom prst="line">
            <a:avLst/>
          </a:prstGeom>
          <a:noFill/>
          <a:ln w="12700">
            <a:solidFill>
              <a:srgbClr val="DFE1E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559552" y="1773936"/>
            <a:ext cx="91440" cy="9144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724144" y="1700784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투표 채널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5605272" y="1865376"/>
            <a:ext cx="0" cy="219456"/>
          </a:xfrm>
          <a:prstGeom prst="line">
            <a:avLst/>
          </a:prstGeom>
          <a:noFill/>
          <a:ln w="12700">
            <a:solidFill>
              <a:srgbClr val="DFE1E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559552" y="2157984"/>
            <a:ext cx="91440" cy="91440"/>
          </a:xfrm>
          <a:prstGeom prst="ellipse">
            <a:avLst/>
          </a:prstGeom>
          <a:solidFill>
            <a:srgbClr val="6B35C9"/>
          </a:solidFill>
          <a:ln w="12700">
            <a:solidFill>
              <a:srgbClr val="6B35C9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724144" y="208483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공유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5605272" y="2249424"/>
            <a:ext cx="0" cy="219456"/>
          </a:xfrm>
          <a:prstGeom prst="line">
            <a:avLst/>
          </a:prstGeom>
          <a:noFill/>
          <a:ln w="12700">
            <a:solidFill>
              <a:srgbClr val="DFE1E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559552" y="2542032"/>
            <a:ext cx="91440" cy="9144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724144" y="246888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소속사 포털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5605272" y="2633472"/>
            <a:ext cx="0" cy="219456"/>
          </a:xfrm>
          <a:prstGeom prst="line">
            <a:avLst/>
          </a:prstGeom>
          <a:noFill/>
          <a:ln w="12700">
            <a:solidFill>
              <a:srgbClr val="DFE1E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559552" y="2926080"/>
            <a:ext cx="91440" cy="91440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724144" y="285292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포토카드 트레이딩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5605272" y="3017520"/>
            <a:ext cx="0" cy="219456"/>
          </a:xfrm>
          <a:prstGeom prst="line">
            <a:avLst/>
          </a:prstGeom>
          <a:noFill/>
          <a:ln w="12700">
            <a:solidFill>
              <a:srgbClr val="DFE1E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559552" y="3310128"/>
            <a:ext cx="91440" cy="91440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724144" y="323697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라이브 스트리밍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5605272" y="3401568"/>
            <a:ext cx="0" cy="219456"/>
          </a:xfrm>
          <a:prstGeom prst="line">
            <a:avLst/>
          </a:prstGeom>
          <a:noFill/>
          <a:ln w="12700">
            <a:solidFill>
              <a:srgbClr val="DFE1E8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559552" y="3694176"/>
            <a:ext cx="91440" cy="9144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724144" y="3621024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커뮤니티 게시판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5605272" y="3785616"/>
            <a:ext cx="0" cy="219456"/>
          </a:xfrm>
          <a:prstGeom prst="line">
            <a:avLst/>
          </a:prstGeom>
          <a:noFill/>
          <a:ln w="12700">
            <a:solidFill>
              <a:srgbClr val="DFE1E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559552" y="4078224"/>
            <a:ext cx="91440" cy="91440"/>
          </a:xfrm>
          <a:prstGeom prst="ellipse">
            <a:avLst/>
          </a:prstGeom>
          <a:solidFill>
            <a:srgbClr val="6B35C9"/>
          </a:solidFill>
          <a:ln w="12700">
            <a:solidFill>
              <a:srgbClr val="6B35C9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724144" y="400507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글로벌 다국어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7F8FA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A-idol Platform  ·  Requirements v1.0.0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6B35C9"/>
          </a:solidFill>
          <a:ln w="12700">
            <a:solidFill>
              <a:srgbClr val="6B35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7F8FA"/>
          </a:solidFill>
          <a:ln w="12700">
            <a:solidFill>
              <a:srgbClr val="DFE1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64008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 —  완료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078992"/>
            <a:ext cx="7955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분석서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822960" y="2048256"/>
            <a:ext cx="3840480" cy="45720"/>
          </a:xfrm>
          <a:prstGeom prst="rect">
            <a:avLst/>
          </a:prstGeom>
          <a:solidFill>
            <a:srgbClr val="6B35C9"/>
          </a:solidFill>
          <a:ln w="12700">
            <a:solidFill>
              <a:srgbClr val="6B35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249424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ERD + DB Schema  —  완료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63347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이벤트 시나리오  —  완료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01752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기능 정의서  —  완료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40156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화면 기획서  —  완료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785616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시퀀스 다이어그램  —  완료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4169664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&gt;&gt;&gt; Stage 3: WBS &amp; 개발 계획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464515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A-idol Platform  ·  v1.0.0  ·  2026.04.15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A-idol Platform — Requirements</dc:title>
  <dc:subject>PptxGenJS Presentation</dc:subject>
  <dc:creator>A-idol Project Owner</dc:creator>
  <cp:lastModifiedBy>A-idol Project Owner</cp:lastModifiedBy>
  <cp:revision>1</cp:revision>
  <dcterms:created xsi:type="dcterms:W3CDTF">2026-04-15T04:24:27Z</dcterms:created>
  <dcterms:modified xsi:type="dcterms:W3CDTF">2026-04-15T04:24:27Z</dcterms:modified>
</cp:coreProperties>
</file>