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레벨 시스템 — 레퍼런스 조사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11480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" y="868680"/>
            <a:ext cx="292608" cy="29260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8778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869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레벨 시스템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4005072" cy="1353312"/>
          </a:xfrm>
          <a:prstGeom prst="roundRect">
            <a:avLst>
              <a:gd name="adj" fmla="val 6757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2336" y="1298448"/>
            <a:ext cx="109728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298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499616" y="1298448"/>
            <a:ext cx="118872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72768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곡선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88336" y="1298448"/>
            <a:ext cx="164592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레벨업 보상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02336" y="1554480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/ RPG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499616" y="1554480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1554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지수형 (급격)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688336" y="155448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61488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스탯·스킬 언락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02336" y="1810512"/>
            <a:ext cx="109728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18105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499616" y="1810512"/>
            <a:ext cx="118872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18105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완만한 지수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88336" y="1810512"/>
            <a:ext cx="164592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61488" y="1810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능력치 성장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02336" y="2066544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" y="2066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499616" y="2066544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72768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지수+Cap 리셋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88336" y="2066544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61488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장비·콘텐츠 해금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02336" y="2322576"/>
            <a:ext cx="109728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" y="23225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Disgaea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499616" y="2322576"/>
            <a:ext cx="118872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72768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객체 레벨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688336" y="2322576"/>
            <a:ext cx="1645920" cy="256032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61488" y="23225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아이템·스킬 강화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2633472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20040" y="2633472"/>
            <a:ext cx="411480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6344" y="2752344"/>
            <a:ext cx="292608" cy="29260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61488"/>
            <a:ext cx="274320" cy="27432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22960" y="2770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레벨 시스템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365760" y="3108960"/>
            <a:ext cx="4005072" cy="1353312"/>
          </a:xfrm>
          <a:prstGeom prst="roundRect">
            <a:avLst>
              <a:gd name="adj" fmla="val 6757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02336" y="3145536"/>
            <a:ext cx="1234440" cy="256032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75488" y="31455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1636776" y="3145536"/>
            <a:ext cx="1325880" cy="256032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709928" y="31455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획득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2962656" y="3145536"/>
            <a:ext cx="1371600" cy="256032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035808" y="3145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혜택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02336" y="340156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5488" y="340156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MEE6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1636776" y="3401568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709928" y="340156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채팅·음성 참여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2962656" y="3401568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035808" y="3401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자동 부여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402336" y="3657600"/>
            <a:ext cx="123444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75488" y="36576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1636776" y="3657600"/>
            <a:ext cx="132588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1709928" y="36576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카르마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2962656" y="3657600"/>
            <a:ext cx="137160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035808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서브레딧 접근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402336" y="391363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75488" y="3913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DMarket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1636776" y="3913632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709928" y="39136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7~12 XP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2962656" y="3913632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035808" y="3913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보너스·채널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402336" y="4169664"/>
            <a:ext cx="123444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75488" y="416966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1636776" y="4169664"/>
            <a:ext cx="132588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1709928" y="416966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 기간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2962656" y="4169664"/>
            <a:ext cx="1371600" cy="25603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3035808" y="4169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이모지·배지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4709160" y="749808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4709160" y="749808"/>
            <a:ext cx="411480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55464" y="868680"/>
            <a:ext cx="292608" cy="29260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7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877824"/>
            <a:ext cx="274320" cy="274320"/>
          </a:xfrm>
          <a:prstGeom prst="rect">
            <a:avLst/>
          </a:prstGeom>
        </p:spPr>
      </p:pic>
      <p:sp>
        <p:nvSpPr>
          <p:cNvPr id="80" name="Text 75"/>
          <p:cNvSpPr/>
          <p:nvPr/>
        </p:nvSpPr>
        <p:spPr>
          <a:xfrm>
            <a:off x="5212080" y="8869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K-pop 팬 플랫폼 레벨</a:t>
            </a:r>
            <a:endParaRPr lang="en-US" sz="1150" dirty="0"/>
          </a:p>
        </p:txBody>
      </p:sp>
      <p:sp>
        <p:nvSpPr>
          <p:cNvPr id="81" name="Shape 76"/>
          <p:cNvSpPr/>
          <p:nvPr/>
        </p:nvSpPr>
        <p:spPr>
          <a:xfrm>
            <a:off x="4754880" y="1261872"/>
            <a:ext cx="4005072" cy="1353312"/>
          </a:xfrm>
          <a:prstGeom prst="roundRect">
            <a:avLst>
              <a:gd name="adj" fmla="val 6757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4791456" y="1298448"/>
            <a:ext cx="1005840" cy="320040"/>
          </a:xfrm>
          <a:prstGeom prst="rect">
            <a:avLst/>
          </a:prstGeom>
          <a:solidFill>
            <a:srgbClr val="6B35C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4864608" y="12984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950" dirty="0"/>
          </a:p>
        </p:txBody>
      </p:sp>
      <p:sp>
        <p:nvSpPr>
          <p:cNvPr id="84" name="Shape 79"/>
          <p:cNvSpPr/>
          <p:nvPr/>
        </p:nvSpPr>
        <p:spPr>
          <a:xfrm>
            <a:off x="5797296" y="1298448"/>
            <a:ext cx="1463040" cy="320040"/>
          </a:xfrm>
          <a:prstGeom prst="rect">
            <a:avLst/>
          </a:prstGeom>
          <a:solidFill>
            <a:srgbClr val="6B35C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5870448" y="1298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방식</a:t>
            </a:r>
            <a:endParaRPr lang="en-US" sz="950" dirty="0"/>
          </a:p>
        </p:txBody>
      </p:sp>
      <p:sp>
        <p:nvSpPr>
          <p:cNvPr id="86" name="Shape 81"/>
          <p:cNvSpPr/>
          <p:nvPr/>
        </p:nvSpPr>
        <p:spPr>
          <a:xfrm>
            <a:off x="7260336" y="1298448"/>
            <a:ext cx="1463040" cy="320040"/>
          </a:xfrm>
          <a:prstGeom prst="rect">
            <a:avLst/>
          </a:prstGeom>
          <a:solidFill>
            <a:srgbClr val="6B35C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7333488" y="1298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50" dirty="0"/>
          </a:p>
        </p:txBody>
      </p:sp>
      <p:sp>
        <p:nvSpPr>
          <p:cNvPr id="88" name="Shape 83"/>
          <p:cNvSpPr/>
          <p:nvPr/>
        </p:nvSpPr>
        <p:spPr>
          <a:xfrm>
            <a:off x="4791456" y="1618488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4864608" y="16184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</a:t>
            </a:r>
            <a:endParaRPr lang="en-US" sz="900" dirty="0"/>
          </a:p>
        </p:txBody>
      </p:sp>
      <p:sp>
        <p:nvSpPr>
          <p:cNvPr id="90" name="Shape 85"/>
          <p:cNvSpPr/>
          <p:nvPr/>
        </p:nvSpPr>
        <p:spPr>
          <a:xfrm>
            <a:off x="5797296" y="1618488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5870448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일수 카운터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7260336" y="1618488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7333488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시 정지·재개</a:t>
            </a:r>
            <a:endParaRPr lang="en-US" sz="900" dirty="0"/>
          </a:p>
        </p:txBody>
      </p:sp>
      <p:sp>
        <p:nvSpPr>
          <p:cNvPr id="94" name="Shape 89"/>
          <p:cNvSpPr/>
          <p:nvPr/>
        </p:nvSpPr>
        <p:spPr>
          <a:xfrm>
            <a:off x="4791456" y="1938528"/>
            <a:ext cx="1005840" cy="320040"/>
          </a:xfrm>
          <a:prstGeom prst="rect">
            <a:avLst/>
          </a:prstGeom>
          <a:solidFill>
            <a:srgbClr val="F3EEF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4864608" y="19385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Weverse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5797296" y="1938528"/>
            <a:ext cx="1463040" cy="320040"/>
          </a:xfrm>
          <a:prstGeom prst="rect">
            <a:avLst/>
          </a:prstGeom>
          <a:solidFill>
            <a:srgbClr val="F3EEF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5870448" y="1938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 등급 (유료)</a:t>
            </a:r>
            <a:endParaRPr lang="en-US" sz="900" dirty="0"/>
          </a:p>
        </p:txBody>
      </p:sp>
      <p:sp>
        <p:nvSpPr>
          <p:cNvPr id="98" name="Shape 93"/>
          <p:cNvSpPr/>
          <p:nvPr/>
        </p:nvSpPr>
        <p:spPr>
          <a:xfrm>
            <a:off x="7260336" y="1938528"/>
            <a:ext cx="1463040" cy="320040"/>
          </a:xfrm>
          <a:prstGeom prst="rect">
            <a:avLst/>
          </a:prstGeom>
          <a:solidFill>
            <a:srgbClr val="F3EEF9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333488" y="1938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독점 콘텐츠 접근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4791456" y="2258568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4864608" y="2258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900" dirty="0"/>
          </a:p>
        </p:txBody>
      </p:sp>
      <p:sp>
        <p:nvSpPr>
          <p:cNvPr id="102" name="Shape 97"/>
          <p:cNvSpPr/>
          <p:nvPr/>
        </p:nvSpPr>
        <p:spPr>
          <a:xfrm>
            <a:off x="5797296" y="2258568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5870448" y="2258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포인트+멤버십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7260336" y="2258568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7333488" y="2258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게임화 강조</a:t>
            </a:r>
            <a:endParaRPr lang="en-US" sz="900" dirty="0"/>
          </a:p>
        </p:txBody>
      </p:sp>
      <p:sp>
        <p:nvSpPr>
          <p:cNvPr id="106" name="Shape 101"/>
          <p:cNvSpPr/>
          <p:nvPr/>
        </p:nvSpPr>
        <p:spPr>
          <a:xfrm>
            <a:off x="4709160" y="2633472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107" name="Shape 102"/>
          <p:cNvSpPr/>
          <p:nvPr/>
        </p:nvSpPr>
        <p:spPr>
          <a:xfrm>
            <a:off x="4709160" y="2633472"/>
            <a:ext cx="411480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4855464" y="2752344"/>
            <a:ext cx="292608" cy="29260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0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761488"/>
            <a:ext cx="274320" cy="274320"/>
          </a:xfrm>
          <a:prstGeom prst="rect">
            <a:avLst/>
          </a:prstGeom>
        </p:spPr>
      </p:pic>
      <p:sp>
        <p:nvSpPr>
          <p:cNvPr id="110" name="Text 104"/>
          <p:cNvSpPr/>
          <p:nvPr/>
        </p:nvSpPr>
        <p:spPr>
          <a:xfrm>
            <a:off x="5212080" y="2770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게임화 연구 핵심 인사이트</a:t>
            </a:r>
            <a:endParaRPr lang="en-US" sz="1150" dirty="0"/>
          </a:p>
        </p:txBody>
      </p:sp>
      <p:sp>
        <p:nvSpPr>
          <p:cNvPr id="111" name="Shape 105"/>
          <p:cNvSpPr/>
          <p:nvPr/>
        </p:nvSpPr>
        <p:spPr>
          <a:xfrm>
            <a:off x="4782312" y="3172968"/>
            <a:ext cx="219456" cy="219456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182112"/>
            <a:ext cx="201168" cy="201168"/>
          </a:xfrm>
          <a:prstGeom prst="rect">
            <a:avLst/>
          </a:prstGeom>
        </p:spPr>
      </p:pic>
      <p:sp>
        <p:nvSpPr>
          <p:cNvPr id="113" name="Text 106"/>
          <p:cNvSpPr/>
          <p:nvPr/>
        </p:nvSpPr>
        <p:spPr>
          <a:xfrm>
            <a:off x="5047488" y="318211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+20~30%</a:t>
            </a:r>
            <a:endParaRPr lang="en-US" sz="800" dirty="0"/>
          </a:p>
        </p:txBody>
      </p:sp>
      <p:sp>
        <p:nvSpPr>
          <p:cNvPr id="114" name="Text 107"/>
          <p:cNvSpPr/>
          <p:nvPr/>
        </p:nvSpPr>
        <p:spPr>
          <a:xfrm>
            <a:off x="5669280" y="314553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게임화 앱의 평균 참여도 향상 (Statista 2024)</a:t>
            </a:r>
            <a:endParaRPr lang="en-US" sz="900" dirty="0"/>
          </a:p>
        </p:txBody>
      </p:sp>
      <p:sp>
        <p:nvSpPr>
          <p:cNvPr id="115" name="Shape 108"/>
          <p:cNvSpPr/>
          <p:nvPr/>
        </p:nvSpPr>
        <p:spPr>
          <a:xfrm>
            <a:off x="4782312" y="3520440"/>
            <a:ext cx="219456" cy="219456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529584"/>
            <a:ext cx="201168" cy="201168"/>
          </a:xfrm>
          <a:prstGeom prst="rect">
            <a:avLst/>
          </a:prstGeom>
        </p:spPr>
      </p:pic>
      <p:sp>
        <p:nvSpPr>
          <p:cNvPr id="117" name="Text 109"/>
          <p:cNvSpPr/>
          <p:nvPr/>
        </p:nvSpPr>
        <p:spPr>
          <a:xfrm>
            <a:off x="5047488" y="352958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</a:t>
            </a:r>
            <a:endParaRPr lang="en-US" sz="800" dirty="0"/>
          </a:p>
        </p:txBody>
      </p:sp>
      <p:sp>
        <p:nvSpPr>
          <p:cNvPr id="118" name="Text 110"/>
          <p:cNvSpPr/>
          <p:nvPr/>
        </p:nvSpPr>
        <p:spPr>
          <a:xfrm>
            <a:off x="5669280" y="34930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리더보드·레벨 보유 앱의 세션 지속률</a:t>
            </a:r>
            <a:endParaRPr lang="en-US" sz="900" dirty="0"/>
          </a:p>
        </p:txBody>
      </p:sp>
      <p:sp>
        <p:nvSpPr>
          <p:cNvPr id="119" name="Shape 111"/>
          <p:cNvSpPr/>
          <p:nvPr/>
        </p:nvSpPr>
        <p:spPr>
          <a:xfrm>
            <a:off x="4782312" y="3867912"/>
            <a:ext cx="219456" cy="219456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877056"/>
            <a:ext cx="201168" cy="201168"/>
          </a:xfrm>
          <a:prstGeom prst="rect">
            <a:avLst/>
          </a:prstGeom>
        </p:spPr>
      </p:pic>
      <p:sp>
        <p:nvSpPr>
          <p:cNvPr id="121" name="Text 112"/>
          <p:cNvSpPr/>
          <p:nvPr/>
        </p:nvSpPr>
        <p:spPr>
          <a:xfrm>
            <a:off x="5047488" y="387705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1</a:t>
            </a:r>
            <a:endParaRPr lang="en-US" sz="800" dirty="0"/>
          </a:p>
        </p:txBody>
      </p:sp>
      <p:sp>
        <p:nvSpPr>
          <p:cNvPr id="122" name="Text 113"/>
          <p:cNvSpPr/>
          <p:nvPr/>
        </p:nvSpPr>
        <p:spPr>
          <a:xfrm>
            <a:off x="5669280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이미 하고 싶은 행동을 게임화해야 효과적</a:t>
            </a:r>
            <a:endParaRPr lang="en-US" sz="900" dirty="0"/>
          </a:p>
        </p:txBody>
      </p:sp>
      <p:sp>
        <p:nvSpPr>
          <p:cNvPr id="123" name="Shape 114"/>
          <p:cNvSpPr/>
          <p:nvPr/>
        </p:nvSpPr>
        <p:spPr>
          <a:xfrm>
            <a:off x="4782312" y="4215384"/>
            <a:ext cx="219456" cy="219456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4224528"/>
            <a:ext cx="201168" cy="201168"/>
          </a:xfrm>
          <a:prstGeom prst="rect">
            <a:avLst/>
          </a:prstGeom>
        </p:spPr>
      </p:pic>
      <p:sp>
        <p:nvSpPr>
          <p:cNvPr id="125" name="Text 115"/>
          <p:cNvSpPr/>
          <p:nvPr/>
        </p:nvSpPr>
        <p:spPr>
          <a:xfrm>
            <a:off x="5047488" y="422452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2</a:t>
            </a:r>
            <a:endParaRPr lang="en-US" sz="800" dirty="0"/>
          </a:p>
        </p:txBody>
      </p:sp>
      <p:sp>
        <p:nvSpPr>
          <p:cNvPr id="126" name="Text 116"/>
          <p:cNvSpPr/>
          <p:nvPr/>
        </p:nvSpPr>
        <p:spPr>
          <a:xfrm>
            <a:off x="5669280" y="41879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달성 난이도와 보상이 반드시 비례해야 함</a:t>
            </a:r>
            <a:endParaRPr lang="en-US" sz="900" dirty="0"/>
          </a:p>
        </p:txBody>
      </p:sp>
      <p:sp>
        <p:nvSpPr>
          <p:cNvPr id="127" name="Shape 1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8" name="Text 1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Fan Level Policy v1.0.0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유저 레벨 정책 — 5단계 구조 (제안)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749808"/>
            <a:ext cx="1645920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" y="749808"/>
            <a:ext cx="164592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868680"/>
            <a:ext cx="475488" cy="47548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877824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" y="1389888"/>
            <a:ext cx="768096" cy="219456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138988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2608" y="168249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뉴팬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608" y="192024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XP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08483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즉시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9184" y="2322576"/>
            <a:ext cx="1463040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기본 기능 전체 이용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9184" y="27432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아이돌 프로필·좋아요·팔로우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9184" y="309067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팬클럽 가입·채팅 (기본 쿼터)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975104" y="749808"/>
            <a:ext cx="1645920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975104" y="749808"/>
            <a:ext cx="164592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868680"/>
            <a:ext cx="475488" cy="47548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877824"/>
            <a:ext cx="457200" cy="4572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414016" y="1389888"/>
            <a:ext cx="768096" cy="219456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414016" y="138988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029968" y="168249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2029968" y="192024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XP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029968" y="208483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1개월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066544" y="2322576"/>
            <a:ext cx="1463040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066544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레벨 뱃지 프로필 표시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066544" y="27432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채팅 쿼터 +1회/일 (→6회)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2066544" y="309067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포토카드 5% 할인 쿠폰 (월 1회)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712464" y="749808"/>
            <a:ext cx="1645920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712464" y="749808"/>
            <a:ext cx="164592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97680" y="868680"/>
            <a:ext cx="475488" cy="47548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877824"/>
            <a:ext cx="457200" cy="4572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151376" y="1389888"/>
            <a:ext cx="768096" cy="219456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51376" y="138988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767328" y="168249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코어팬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3767328" y="192024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XP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3767328" y="208483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3~4개월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3803904" y="2322576"/>
            <a:ext cx="1463040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803904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전용 프로필 프레임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803904" y="27432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투표권 5% 할인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3803904" y="309067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포토카드 신규 세트 얼리 액세스 24h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5449824" y="749808"/>
            <a:ext cx="1645920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49824" y="749808"/>
            <a:ext cx="164592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035040" y="868680"/>
            <a:ext cx="475488" cy="47548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877824"/>
            <a:ext cx="457200" cy="457200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5888736" y="1389888"/>
            <a:ext cx="768096" cy="219456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888736" y="138988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Lv.4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5504688" y="168249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레전드팬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5504688" y="192024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XP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5504688" y="208483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8개월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5541264" y="2322576"/>
            <a:ext cx="1463040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541264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채팅 쿼터 +2회 (→8회)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5541264" y="27432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채팅 쿠폰 1개/월 무료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5541264" y="309067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오디션 결선 특별 이벤트 응모권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7187184" y="749808"/>
            <a:ext cx="1645920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7187184" y="749808"/>
            <a:ext cx="164592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7772400" y="868680"/>
            <a:ext cx="475488" cy="47548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877824"/>
            <a:ext cx="457200" cy="457200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7626096" y="1389888"/>
            <a:ext cx="768096" cy="219456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7626096" y="1389888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Lv.5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7242048" y="1682496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아이돌메이커</a:t>
            </a:r>
            <a:endParaRPr lang="en-US" sz="1150" dirty="0"/>
          </a:p>
        </p:txBody>
      </p:sp>
      <p:sp>
        <p:nvSpPr>
          <p:cNvPr id="63" name="Text 56"/>
          <p:cNvSpPr/>
          <p:nvPr/>
        </p:nvSpPr>
        <p:spPr>
          <a:xfrm>
            <a:off x="7242048" y="192024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 XP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7242048" y="208483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1.5~2년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7278624" y="2322576"/>
            <a:ext cx="1463040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7278624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아이돌메이커 전용 뱃지</a:t>
            </a:r>
            <a:endParaRPr lang="en-US" sz="850" dirty="0"/>
          </a:p>
        </p:txBody>
      </p:sp>
      <p:sp>
        <p:nvSpPr>
          <p:cNvPr id="67" name="Text 60"/>
          <p:cNvSpPr/>
          <p:nvPr/>
        </p:nvSpPr>
        <p:spPr>
          <a:xfrm>
            <a:off x="7278624" y="27432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오프라인 팬이벤트 초대 우선 배정</a:t>
            </a:r>
            <a:endParaRPr lang="en-US" sz="850" dirty="0"/>
          </a:p>
        </p:txBody>
      </p:sp>
      <p:sp>
        <p:nvSpPr>
          <p:cNvPr id="68" name="Text 61"/>
          <p:cNvSpPr/>
          <p:nvPr/>
        </p:nvSpPr>
        <p:spPr>
          <a:xfrm>
            <a:off x="7278624" y="309067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한정판 포토카드 세트 선구매권</a:t>
            </a:r>
            <a:endParaRPr lang="en-US" sz="850" dirty="0"/>
          </a:p>
        </p:txBody>
      </p:sp>
      <p:sp>
        <p:nvSpPr>
          <p:cNvPr id="69" name="Shape 62"/>
          <p:cNvSpPr/>
          <p:nvPr/>
        </p:nvSpPr>
        <p:spPr>
          <a:xfrm>
            <a:off x="237744" y="3730752"/>
            <a:ext cx="507492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237744" y="3730752"/>
            <a:ext cx="507492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374904" y="3849624"/>
            <a:ext cx="274320" cy="27432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858768"/>
            <a:ext cx="256032" cy="256032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713232" y="38587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획득 활동</a:t>
            </a:r>
            <a:endParaRPr lang="en-US" sz="1150" dirty="0"/>
          </a:p>
        </p:txBody>
      </p:sp>
      <p:sp>
        <p:nvSpPr>
          <p:cNvPr id="74" name="Shape 66"/>
          <p:cNvSpPr/>
          <p:nvPr/>
        </p:nvSpPr>
        <p:spPr>
          <a:xfrm>
            <a:off x="310896" y="4215384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224528"/>
            <a:ext cx="182880" cy="182880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557784" y="418795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로그인</a:t>
            </a:r>
            <a:endParaRPr lang="en-US" sz="850" dirty="0"/>
          </a:p>
        </p:txBody>
      </p:sp>
      <p:sp>
        <p:nvSpPr>
          <p:cNvPr id="77" name="Text 68"/>
          <p:cNvSpPr/>
          <p:nvPr/>
        </p:nvSpPr>
        <p:spPr>
          <a:xfrm>
            <a:off x="557784" y="435254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XP</a:t>
            </a:r>
            <a:endParaRPr lang="en-US" sz="800" dirty="0"/>
          </a:p>
        </p:txBody>
      </p:sp>
      <p:sp>
        <p:nvSpPr>
          <p:cNvPr id="78" name="Text 69"/>
          <p:cNvSpPr/>
          <p:nvPr/>
        </p:nvSpPr>
        <p:spPr>
          <a:xfrm>
            <a:off x="1106424" y="435254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10 XP</a:t>
            </a:r>
            <a:endParaRPr lang="en-US" sz="750" dirty="0"/>
          </a:p>
        </p:txBody>
      </p:sp>
      <p:sp>
        <p:nvSpPr>
          <p:cNvPr id="79" name="Shape 70"/>
          <p:cNvSpPr/>
          <p:nvPr/>
        </p:nvSpPr>
        <p:spPr>
          <a:xfrm>
            <a:off x="1975104" y="4215384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4248" y="4224528"/>
            <a:ext cx="182880" cy="182880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2221992" y="418795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로그인 보너스</a:t>
            </a:r>
            <a:endParaRPr lang="en-US" sz="850" dirty="0"/>
          </a:p>
        </p:txBody>
      </p:sp>
      <p:sp>
        <p:nvSpPr>
          <p:cNvPr id="82" name="Text 72"/>
          <p:cNvSpPr/>
          <p:nvPr/>
        </p:nvSpPr>
        <p:spPr>
          <a:xfrm>
            <a:off x="2221992" y="435254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XP/일</a:t>
            </a:r>
            <a:endParaRPr lang="en-US" sz="800" dirty="0"/>
          </a:p>
        </p:txBody>
      </p:sp>
      <p:sp>
        <p:nvSpPr>
          <p:cNvPr id="83" name="Text 73"/>
          <p:cNvSpPr/>
          <p:nvPr/>
        </p:nvSpPr>
        <p:spPr>
          <a:xfrm>
            <a:off x="2770632" y="435254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+50 XP</a:t>
            </a:r>
            <a:endParaRPr lang="en-US" sz="750" dirty="0"/>
          </a:p>
        </p:txBody>
      </p:sp>
      <p:sp>
        <p:nvSpPr>
          <p:cNvPr id="84" name="Shape 74"/>
          <p:cNvSpPr/>
          <p:nvPr/>
        </p:nvSpPr>
        <p:spPr>
          <a:xfrm>
            <a:off x="3639312" y="4215384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8456" y="4224528"/>
            <a:ext cx="182880" cy="182880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3886200" y="418795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메시지</a:t>
            </a:r>
            <a:endParaRPr lang="en-US" sz="850" dirty="0"/>
          </a:p>
        </p:txBody>
      </p:sp>
      <p:sp>
        <p:nvSpPr>
          <p:cNvPr id="87" name="Text 76"/>
          <p:cNvSpPr/>
          <p:nvPr/>
        </p:nvSpPr>
        <p:spPr>
          <a:xfrm>
            <a:off x="3886200" y="435254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XP</a:t>
            </a:r>
            <a:endParaRPr lang="en-US" sz="800" dirty="0"/>
          </a:p>
        </p:txBody>
      </p:sp>
      <p:sp>
        <p:nvSpPr>
          <p:cNvPr id="88" name="Text 77"/>
          <p:cNvSpPr/>
          <p:nvPr/>
        </p:nvSpPr>
        <p:spPr>
          <a:xfrm>
            <a:off x="4434840" y="435254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50 XP (5분 쿨다운)</a:t>
            </a:r>
            <a:endParaRPr lang="en-US" sz="750" dirty="0"/>
          </a:p>
        </p:txBody>
      </p:sp>
      <p:sp>
        <p:nvSpPr>
          <p:cNvPr id="89" name="Shape 78"/>
          <p:cNvSpPr/>
          <p:nvPr/>
        </p:nvSpPr>
        <p:spPr>
          <a:xfrm>
            <a:off x="310896" y="4562856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572000"/>
            <a:ext cx="182880" cy="182880"/>
          </a:xfrm>
          <a:prstGeom prst="rect">
            <a:avLst/>
          </a:prstGeom>
        </p:spPr>
      </p:pic>
      <p:sp>
        <p:nvSpPr>
          <p:cNvPr id="91" name="Text 79"/>
          <p:cNvSpPr/>
          <p:nvPr/>
        </p:nvSpPr>
        <p:spPr>
          <a:xfrm>
            <a:off x="557784" y="453542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행사</a:t>
            </a:r>
            <a:endParaRPr lang="en-US" sz="850" dirty="0"/>
          </a:p>
        </p:txBody>
      </p:sp>
      <p:sp>
        <p:nvSpPr>
          <p:cNvPr id="92" name="Text 80"/>
          <p:cNvSpPr/>
          <p:nvPr/>
        </p:nvSpPr>
        <p:spPr>
          <a:xfrm>
            <a:off x="557784" y="47000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XP</a:t>
            </a:r>
            <a:endParaRPr lang="en-US" sz="800" dirty="0"/>
          </a:p>
        </p:txBody>
      </p:sp>
      <p:sp>
        <p:nvSpPr>
          <p:cNvPr id="93" name="Text 81"/>
          <p:cNvSpPr/>
          <p:nvPr/>
        </p:nvSpPr>
        <p:spPr>
          <a:xfrm>
            <a:off x="1106424" y="47000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100 XP</a:t>
            </a:r>
            <a:endParaRPr lang="en-US" sz="750" dirty="0"/>
          </a:p>
        </p:txBody>
      </p:sp>
      <p:sp>
        <p:nvSpPr>
          <p:cNvPr id="94" name="Shape 82"/>
          <p:cNvSpPr/>
          <p:nvPr/>
        </p:nvSpPr>
        <p:spPr>
          <a:xfrm>
            <a:off x="1975104" y="4562856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248" y="4572000"/>
            <a:ext cx="182880" cy="182880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2221992" y="453542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뽑기</a:t>
            </a:r>
            <a:endParaRPr lang="en-US" sz="850" dirty="0"/>
          </a:p>
        </p:txBody>
      </p:sp>
      <p:sp>
        <p:nvSpPr>
          <p:cNvPr id="97" name="Text 84"/>
          <p:cNvSpPr/>
          <p:nvPr/>
        </p:nvSpPr>
        <p:spPr>
          <a:xfrm>
            <a:off x="2221992" y="47000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XP</a:t>
            </a:r>
            <a:endParaRPr lang="en-US" sz="800" dirty="0"/>
          </a:p>
        </p:txBody>
      </p:sp>
      <p:sp>
        <p:nvSpPr>
          <p:cNvPr id="98" name="Text 85"/>
          <p:cNvSpPr/>
          <p:nvPr/>
        </p:nvSpPr>
        <p:spPr>
          <a:xfrm>
            <a:off x="2770632" y="47000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150 XP</a:t>
            </a:r>
            <a:endParaRPr lang="en-US" sz="750" dirty="0"/>
          </a:p>
        </p:txBody>
      </p:sp>
      <p:sp>
        <p:nvSpPr>
          <p:cNvPr id="99" name="Shape 86"/>
          <p:cNvSpPr/>
          <p:nvPr/>
        </p:nvSpPr>
        <p:spPr>
          <a:xfrm>
            <a:off x="3639312" y="4562856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0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8456" y="4572000"/>
            <a:ext cx="182880" cy="182880"/>
          </a:xfrm>
          <a:prstGeom prst="rect">
            <a:avLst/>
          </a:prstGeom>
        </p:spPr>
      </p:pic>
      <p:sp>
        <p:nvSpPr>
          <p:cNvPr id="101" name="Text 87"/>
          <p:cNvSpPr/>
          <p:nvPr/>
        </p:nvSpPr>
        <p:spPr>
          <a:xfrm>
            <a:off x="3886200" y="453542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최초 가입</a:t>
            </a:r>
            <a:endParaRPr lang="en-US" sz="850" dirty="0"/>
          </a:p>
        </p:txBody>
      </p:sp>
      <p:sp>
        <p:nvSpPr>
          <p:cNvPr id="102" name="Text 88"/>
          <p:cNvSpPr/>
          <p:nvPr/>
        </p:nvSpPr>
        <p:spPr>
          <a:xfrm>
            <a:off x="3886200" y="47000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XP</a:t>
            </a:r>
            <a:endParaRPr lang="en-US" sz="800" dirty="0"/>
          </a:p>
        </p:txBody>
      </p:sp>
      <p:sp>
        <p:nvSpPr>
          <p:cNvPr id="103" name="Text 89"/>
          <p:cNvSpPr/>
          <p:nvPr/>
        </p:nvSpPr>
        <p:spPr>
          <a:xfrm>
            <a:off x="4434840" y="47000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한정</a:t>
            </a:r>
            <a:endParaRPr lang="en-US" sz="750" dirty="0"/>
          </a:p>
        </p:txBody>
      </p:sp>
      <p:sp>
        <p:nvSpPr>
          <p:cNvPr id="104" name="Shape 90"/>
          <p:cNvSpPr/>
          <p:nvPr/>
        </p:nvSpPr>
        <p:spPr>
          <a:xfrm>
            <a:off x="5532120" y="3730752"/>
            <a:ext cx="338328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3000"/>
              </a:srgbClr>
            </a:outerShdw>
          </a:effectLst>
        </p:spPr>
      </p:sp>
      <p:sp>
        <p:nvSpPr>
          <p:cNvPr id="105" name="Shape 91"/>
          <p:cNvSpPr/>
          <p:nvPr/>
        </p:nvSpPr>
        <p:spPr>
          <a:xfrm>
            <a:off x="5532120" y="3730752"/>
            <a:ext cx="338328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6" name="Shape 92"/>
          <p:cNvSpPr/>
          <p:nvPr/>
        </p:nvSpPr>
        <p:spPr>
          <a:xfrm>
            <a:off x="5669280" y="3849624"/>
            <a:ext cx="274320" cy="27432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0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8424" y="3858768"/>
            <a:ext cx="256032" cy="256032"/>
          </a:xfrm>
          <a:prstGeom prst="rect">
            <a:avLst/>
          </a:prstGeom>
        </p:spPr>
      </p:pic>
      <p:sp>
        <p:nvSpPr>
          <p:cNvPr id="108" name="Text 93"/>
          <p:cNvSpPr/>
          <p:nvPr/>
        </p:nvSpPr>
        <p:spPr>
          <a:xfrm>
            <a:off x="6007608" y="3858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스트릭 (연속 출석)</a:t>
            </a:r>
            <a:endParaRPr lang="en-US" sz="1150" dirty="0"/>
          </a:p>
        </p:txBody>
      </p:sp>
      <p:sp>
        <p:nvSpPr>
          <p:cNvPr id="109" name="Shape 94"/>
          <p:cNvSpPr/>
          <p:nvPr/>
        </p:nvSpPr>
        <p:spPr>
          <a:xfrm>
            <a:off x="5605272" y="4251960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1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4416" y="4261104"/>
            <a:ext cx="182880" cy="182880"/>
          </a:xfrm>
          <a:prstGeom prst="rect">
            <a:avLst/>
          </a:prstGeom>
        </p:spPr>
      </p:pic>
      <p:sp>
        <p:nvSpPr>
          <p:cNvPr id="111" name="Text 95"/>
          <p:cNvSpPr/>
          <p:nvPr/>
        </p:nvSpPr>
        <p:spPr>
          <a:xfrm>
            <a:off x="5852160" y="4224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</a:t>
            </a:r>
            <a:endParaRPr lang="en-US" sz="850" dirty="0"/>
          </a:p>
        </p:txBody>
      </p:sp>
      <p:sp>
        <p:nvSpPr>
          <p:cNvPr id="112" name="Text 96"/>
          <p:cNvSpPr/>
          <p:nvPr/>
        </p:nvSpPr>
        <p:spPr>
          <a:xfrm>
            <a:off x="5852160" y="43891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쿠폰 1개</a:t>
            </a:r>
            <a:endParaRPr lang="en-US" sz="800" dirty="0"/>
          </a:p>
        </p:txBody>
      </p:sp>
      <p:sp>
        <p:nvSpPr>
          <p:cNvPr id="113" name="Shape 97"/>
          <p:cNvSpPr/>
          <p:nvPr/>
        </p:nvSpPr>
        <p:spPr>
          <a:xfrm>
            <a:off x="7269480" y="4251960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1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8624" y="4261104"/>
            <a:ext cx="182880" cy="182880"/>
          </a:xfrm>
          <a:prstGeom prst="rect">
            <a:avLst/>
          </a:prstGeom>
        </p:spPr>
      </p:pic>
      <p:sp>
        <p:nvSpPr>
          <p:cNvPr id="115" name="Text 98"/>
          <p:cNvSpPr/>
          <p:nvPr/>
        </p:nvSpPr>
        <p:spPr>
          <a:xfrm>
            <a:off x="7516368" y="4224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</a:t>
            </a:r>
            <a:endParaRPr lang="en-US" sz="850" dirty="0"/>
          </a:p>
        </p:txBody>
      </p:sp>
      <p:sp>
        <p:nvSpPr>
          <p:cNvPr id="116" name="Text 99"/>
          <p:cNvSpPr/>
          <p:nvPr/>
        </p:nvSpPr>
        <p:spPr>
          <a:xfrm>
            <a:off x="7516368" y="43891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뽑기 1회</a:t>
            </a:r>
            <a:endParaRPr lang="en-US" sz="800" dirty="0"/>
          </a:p>
        </p:txBody>
      </p:sp>
      <p:sp>
        <p:nvSpPr>
          <p:cNvPr id="117" name="Shape 100"/>
          <p:cNvSpPr/>
          <p:nvPr/>
        </p:nvSpPr>
        <p:spPr>
          <a:xfrm>
            <a:off x="5605272" y="4617720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1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4416" y="4626864"/>
            <a:ext cx="182880" cy="182880"/>
          </a:xfrm>
          <a:prstGeom prst="rect">
            <a:avLst/>
          </a:prstGeom>
        </p:spPr>
      </p:pic>
      <p:sp>
        <p:nvSpPr>
          <p:cNvPr id="119" name="Text 101"/>
          <p:cNvSpPr/>
          <p:nvPr/>
        </p:nvSpPr>
        <p:spPr>
          <a:xfrm>
            <a:off x="5852160" y="45902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100일</a:t>
            </a:r>
            <a:endParaRPr lang="en-US" sz="850" dirty="0"/>
          </a:p>
        </p:txBody>
      </p:sp>
      <p:sp>
        <p:nvSpPr>
          <p:cNvPr id="120" name="Text 102"/>
          <p:cNvSpPr/>
          <p:nvPr/>
        </p:nvSpPr>
        <p:spPr>
          <a:xfrm>
            <a:off x="5852160" y="475488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투표권 3매</a:t>
            </a:r>
            <a:endParaRPr lang="en-US" sz="800" dirty="0"/>
          </a:p>
        </p:txBody>
      </p:sp>
      <p:sp>
        <p:nvSpPr>
          <p:cNvPr id="121" name="Shape 103"/>
          <p:cNvSpPr/>
          <p:nvPr/>
        </p:nvSpPr>
        <p:spPr>
          <a:xfrm>
            <a:off x="7269480" y="4617720"/>
            <a:ext cx="201168" cy="20116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pic>
        <p:nvPicPr>
          <p:cNvPr id="1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78624" y="4626864"/>
            <a:ext cx="182880" cy="182880"/>
          </a:xfrm>
          <a:prstGeom prst="rect">
            <a:avLst/>
          </a:prstGeom>
        </p:spPr>
      </p:pic>
      <p:sp>
        <p:nvSpPr>
          <p:cNvPr id="123" name="Text 104"/>
          <p:cNvSpPr/>
          <p:nvPr/>
        </p:nvSpPr>
        <p:spPr>
          <a:xfrm>
            <a:off x="7516368" y="45902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365일</a:t>
            </a:r>
            <a:endParaRPr lang="en-US" sz="850" dirty="0"/>
          </a:p>
        </p:txBody>
      </p:sp>
      <p:sp>
        <p:nvSpPr>
          <p:cNvPr id="124" name="Text 105"/>
          <p:cNvSpPr/>
          <p:nvPr/>
        </p:nvSpPr>
        <p:spPr>
          <a:xfrm>
            <a:off x="7516368" y="475488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2배 1주일</a:t>
            </a:r>
            <a:endParaRPr lang="en-US" sz="800" dirty="0"/>
          </a:p>
        </p:txBody>
      </p:sp>
      <p:sp>
        <p:nvSpPr>
          <p:cNvPr id="125" name="Shape 10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6" name="Text 10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Fan Level Policy v1.0.0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2026-04-15T06:08:58Z</dcterms:created>
  <dcterms:modified xsi:type="dcterms:W3CDTF">2026-04-15T06:08:58Z</dcterms:modified>
</cp:coreProperties>
</file>